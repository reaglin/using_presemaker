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module on generating module topics and subtopics in PreseMaker. In the next several slides, we will cover what topics and subtopics are, how PreseMaker analyzes source materials to generate them, how to review and refine the generated structure, and why getting that structure right early is critical to the quality of your entire module.</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Module topics represent the major learning units that organize an e-learning module at the highest level. Subtopics then drill down into each topic, breaking it into discrete, teachable concepts or steps. This hierarchy is the architectural backbone of the entire module — every piece of content generated later depends on it. Establishing an accurate structure at the outset avoids the expensive and time-consuming process of revising downstream content. PreseMaker simplifies this by automatically analyzing source materials and producing a structured topic and subtopic list for review.</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Think of the topics-and-subtopics hierarchy as the architectural blueprint for your module. Just as a building cannot stand without a solid foundation, no e-learning content generated in PreseMaker can be coherent without a well-defined topic structure. The purpose of establishing this structure carefully from the start is to ensure that all downstream outputs — slides, assessments, narration, and more — align with your true instructional intent. Investing in this step early is the most cost-effective decision you can make in the development process.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analysis process begins the moment PreseMaker reads the source materials you have supplied — whether those are uploaded documents, presentations, or directly entered text. Rather than performing a simple keyword scan, PreseMaker identifies recurring ideas, central arguments, and distinct subject areas that represent meaningful instructional themes. It then interprets the instructional purpose behind those themes to ensure the resulting topics align with learning goals rather than just surface content. The final output of this analysis is a draft Module Topics list that authors can immediately begin reviewing and refining.</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Before triggering generation, make sure you are in the correct area of PreseMaker where source materials are linked to your module. Once everything is in place, a single action — such as clicking a Generate Topics button — prompts PreseMaker to begin its analysis. After processing completes, the tool displays a structured Module Topics list derived directly from your source materials. Importantly, PreseMaker maintains a traceable connection between each generated topic and the specific portions of the original source content it came from, giving you confidence that nothing has been fabricated or misattributed.</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the topics list is generated, your first task is to evaluate its completeness and accuracy. Ask yourself whether every major subject area in the source material has been captured and whether the topics align with your stated learning objectives. Equally important is the sequence — the order in which topics appear shapes how learners build understanding, so illogical ordering should be flagged for correction. Granularity is another key consideration: each topic should be scoped tightly enough to be taught in a single, focused segment. Before making any changes, document all required edits so you can address them systematically rather than piecemeal.</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generation completes, the Module Topics list becomes the primary workspace for your review. Each topic title is PreseMaker's summary of a core idea extracted from the source material. Reading through these titles gives you a rapid, high-level view of the proposed module structure. As you browse, compare what you see against the intended scope and learning goals of your module. Note any topics that appear to be missing, misnamed, or that represent content outside the intended scope — these observations will guide your editing work in the next stage.</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gives you full control to rename topics and subtopics so their titles accurately reflect the content and match the instructional language your organization uses. A well-named topic improves learner orientation and comprehension. Reordering is equally important — PreseMaker's drag-and-move interface lets you adjust the sequence of topics and subtopics to ensure learners encounter content in a logical, scaffolded order. Before diving into individual edits, always review the full list first so you can approach edits systematically and avoid introducing new inconsistencies.</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If your review reveals that important content areas were not captured during generation, you can manually add new topics or subtopics directly within PreseMaker. These manual entries carry the same weight as generated ones in all downstream content steps. Conversely, removing redundant or out-of-scope items is just as important — an inflated topic list leads to unfocused modules and wasted learner time. When in doubt about whether to keep or remove a topic, err toward keeping it for a second review pass rather than deleting prematurely. The goal is a list that is both complete and tightly scoped.</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Finalizing the topic structure is not simply a clerical step — it is a formal quality gate that protects the integrity of everything that follows. Before marking the structure as complete, verify that every subtopic maps to a clear and teachable learning concept, that the sequence is pedagogically sound, and that the full list still aligns with the module's original learning objectives. Where possible, obtain stakeholder or subject-matter expert sign-off at this stage. Treating finalization seriously now is the single most effective way to minimize rework in later development phases.</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topics and subtopics you finalize are not merely organizational labels — they are the structural input that drives every subsequent content generation step in PreseMaker. Slides, assessments, narration scripts, and other outputs are all built on top of this foundation. This means that errors or vagueness in your topic definitions do not remain isolated; they cascade through the entire pipeline, producing misaligned or incoherent content at every stage. Conversely, a well-structured, accurate topic list directly improves the coherence, instructional flow, and overall quality of your completed module.</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cascading effect of topic accuracy is one of the most important concepts to internalize as a PreseMaker user. Because each stage of the content generation pipeline depends on the stage before it — starting with topics — any inaccuracy introduced at the topic level multiplies as it flows downstream. A topic that is slightly off-scope produces slides that are off-scope, assessments that test the wrong things, and narration that confuses learners. Catching and correcting these issues after generation requires regenerating large portions of content, which is far more costly than taking the time to validate topics before proceeding.</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Investing deliberate effort in topic validation before moving forward is the highest-leverage action you can take in the PreseMaker workflow. During validation, examine the list for completeness — are all key areas covered? For accuracy — do titles faithfully represent the source content? For sequence — does the order support progressive learning? And for granularity — are topics scoped for a single, focused instructional segment? Involving subject-matter experts in this review adds another layer of quality assurance. Once all concerns are resolved and documented, you can proceed to downstream content generation with confidence.</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PreseMaker's content generation pipeline functions as a dependency chain. Topics feed into subtopics, subtopics feed into content generation prompts, and those prompts produce slides, assessments, narration, and other deliverables. Because each stage relies entirely on the accuracy of the stage before it, the topic list functions as the single point of origin for everything in the module. The quality of your final output is effectively bounded by the quality of your topic structure. Strong, well-validated topics empower PreseMaker to produce coherent, instructionally sound content at every subsequent stage.</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what we have covered: module topics and subtopics form the architectural backbone of every e-learning module built in PreseMaker. PreseMaker analyzes your source materials to automatically generate this structure, inferring instructional intent rather than simply extracting keywords. Once generated, you should thoroughly review the list — evaluating completeness, sequence, granularity, and alignment with learning objectives — and make all necessary edits before proceeding. Finalizing and validating this structure early is the single most effective way to ensure that all downstream content is coherent, accurate, and instructionally sound. Thank you for completing this module.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Module Topics and Subtopics</a:t>
            </a:r>
          </a:p>
        </p:txBody>
      </p:sp>
      <p:sp>
        <p:nvSpPr>
          <p:cNvPr id="3" name="Content Placeholder 2"/>
          <p:cNvSpPr>
            <a:spLocks noGrp="1"/>
          </p:cNvSpPr>
          <p:nvPr>
            <p:ph idx="1"/>
          </p:nvPr>
        </p:nvSpPr>
        <p:spPr/>
        <p:txBody>
          <a:bodyPr/>
          <a:lstStyle/>
          <a:p>
            <a:pPr algn="ctr">
              <a:buNone/>
            </a:pPr>
            <a:r>
              <a:rPr lang="en-US" dirty="0"/>
              <a:t>How PreseMaker structures e-learning content through topics and subtopics from source materials.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Module Topics and Subtopics</a:t>
            </a:r>
          </a:p>
        </p:txBody>
      </p:sp>
      <p:sp>
        <p:nvSpPr>
          <p:cNvPr id="3" name="Content Placeholder 2"/>
          <p:cNvSpPr>
            <a:spLocks noGrp="1"/>
          </p:cNvSpPr>
          <p:nvPr>
            <p:ph idx="1"/>
          </p:nvPr>
        </p:nvSpPr>
        <p:spPr/>
        <p:txBody>
          <a:bodyPr/>
          <a:lstStyle/>
          <a:p>
            <a:r>
              <a:rPr lang="en-US" dirty="0"/>
              <a:t>Module topics are the major subject areas within a module.</a:t>
            </a:r>
          </a:p>
          <a:p>
            <a:r>
              <a:rPr lang="en-US" dirty="0"/>
              <a:t>Subtopics break each topic into smaller, focused concepts.</a:t>
            </a:r>
          </a:p>
          <a:p>
            <a:r>
              <a:rPr lang="en-US" dirty="0"/>
              <a:t>Together they form the foundational hierarchy for all content.</a:t>
            </a:r>
          </a:p>
          <a:p>
            <a:r>
              <a:rPr lang="en-US" dirty="0"/>
              <a:t>Getting this structure right early prevents costly rework later.</a:t>
            </a:r>
          </a:p>
          <a:p>
            <a:r>
              <a:rPr lang="en-US" dirty="0"/>
              <a:t>PreseMaker auto-generates topics and subtopics from source materials.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Topic Structure Is the Foundation</a:t>
            </a:r>
          </a:p>
        </p:txBody>
      </p:sp>
      <p:sp>
        <p:nvSpPr>
          <p:cNvPr id="3" name="Content Placeholder 2"/>
          <p:cNvSpPr>
            <a:spLocks noGrp="1"/>
          </p:cNvSpPr>
          <p:nvPr>
            <p:ph idx="1"/>
          </p:nvPr>
        </p:nvSpPr>
        <p:spPr/>
        <p:txBody>
          <a:bodyPr/>
          <a:lstStyle/>
          <a:p>
            <a:r>
              <a:rPr lang="en-US" dirty="0"/>
              <a:t>The hierarchy drives all subsequent content generation steps.</a:t>
            </a:r>
          </a:p>
          <a:p>
            <a:r>
              <a:rPr lang="en-US" dirty="0"/>
              <a:t>A sound structure ensures logical, learner-friendly progression.</a:t>
            </a:r>
          </a:p>
          <a:p>
            <a:r>
              <a:rPr lang="en-US" dirty="0"/>
              <a:t>Vague topics produce misaligned content throughout the module.</a:t>
            </a:r>
          </a:p>
          <a:p>
            <a:r>
              <a:rPr lang="en-US" dirty="0"/>
              <a:t>Early accuracy reduces total development time significantly.</a:t>
            </a:r>
          </a:p>
          <a:p>
            <a:r>
              <a:rPr lang="en-US" dirty="0"/>
              <a:t>PreseMaker builds every output stage on this initial structure.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PreseMaker Analyzes Source Materials</a:t>
            </a:r>
          </a:p>
        </p:txBody>
      </p:sp>
      <p:sp>
        <p:nvSpPr>
          <p:cNvPr id="3" name="Content Placeholder 2"/>
          <p:cNvSpPr>
            <a:spLocks noGrp="1"/>
          </p:cNvSpPr>
          <p:nvPr>
            <p:ph idx="1"/>
          </p:nvPr>
        </p:nvSpPr>
        <p:spPr/>
        <p:txBody>
          <a:bodyPr/>
          <a:lstStyle/>
          <a:p>
            <a:r>
              <a:rPr lang="en-US" dirty="0"/>
              <a:t>PreseMaker ingests all uploaded files or provided text.</a:t>
            </a:r>
          </a:p>
          <a:p>
            <a:r>
              <a:rPr lang="en-US" dirty="0"/>
              <a:t>It scans for recurring ideas, themes, and distinct concepts.</a:t>
            </a:r>
          </a:p>
          <a:p>
            <a:r>
              <a:rPr lang="en-US" dirty="0"/>
              <a:t>Key themes are converted into discrete, learner-facing topics.</a:t>
            </a:r>
          </a:p>
          <a:p>
            <a:r>
              <a:rPr lang="en-US" dirty="0"/>
              <a:t>PreseMaker infers instructional intent — not just keywords.</a:t>
            </a:r>
          </a:p>
          <a:p>
            <a:r>
              <a:rPr lang="en-US" dirty="0"/>
              <a:t>The output is a draft topic list ready for author review.</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the Module Topics List</a:t>
            </a:r>
          </a:p>
        </p:txBody>
      </p:sp>
      <p:sp>
        <p:nvSpPr>
          <p:cNvPr id="3" name="Content Placeholder 2"/>
          <p:cNvSpPr>
            <a:spLocks noGrp="1"/>
          </p:cNvSpPr>
          <p:nvPr>
            <p:ph idx="1"/>
          </p:nvPr>
        </p:nvSpPr>
        <p:spPr/>
        <p:txBody>
          <a:bodyPr/>
          <a:lstStyle/>
          <a:p>
            <a:r>
              <a:rPr lang="en-US" dirty="0"/>
              <a:t>Navigate to the topic generation area in PreseMaker.</a:t>
            </a:r>
          </a:p>
          <a:p>
            <a:r>
              <a:rPr lang="en-US" dirty="0"/>
              <a:t>Confirm source materials are linked to the module first.</a:t>
            </a:r>
          </a:p>
          <a:p>
            <a:r>
              <a:rPr lang="en-US" dirty="0"/>
              <a:t>Trigger generation with a single initiating action.</a:t>
            </a:r>
          </a:p>
          <a:p>
            <a:r>
              <a:rPr lang="en-US" dirty="0"/>
              <a:t>PreseMaker displays a structured topics list after processing.</a:t>
            </a:r>
          </a:p>
          <a:p>
            <a:r>
              <a:rPr lang="en-US" dirty="0"/>
              <a:t>Each topic traces back to specific source content sections.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the Generated Topics List</a:t>
            </a:r>
          </a:p>
        </p:txBody>
      </p:sp>
      <p:sp>
        <p:nvSpPr>
          <p:cNvPr id="3" name="Content Placeholder 2"/>
          <p:cNvSpPr>
            <a:spLocks noGrp="1"/>
          </p:cNvSpPr>
          <p:nvPr>
            <p:ph idx="1"/>
          </p:nvPr>
        </p:nvSpPr>
        <p:spPr/>
        <p:txBody>
          <a:bodyPr/>
          <a:lstStyle/>
          <a:p>
            <a:r>
              <a:rPr lang="en-US" dirty="0"/>
              <a:t>Review whether all intended subject areas are represented.</a:t>
            </a:r>
          </a:p>
          <a:p>
            <a:r>
              <a:rPr lang="en-US" dirty="0"/>
              <a:t>Check that topics align with your module's learning objectives.</a:t>
            </a:r>
          </a:p>
          <a:p>
            <a:r>
              <a:rPr lang="en-US" dirty="0"/>
              <a:t>Assess the logical sequence topics present to learners.</a:t>
            </a:r>
          </a:p>
          <a:p>
            <a:r>
              <a:rPr lang="en-US" dirty="0"/>
              <a:t>Evaluate topic granularity — not too broad, not too narrow.</a:t>
            </a:r>
          </a:p>
          <a:p>
            <a:r>
              <a:rPr lang="en-US" dirty="0"/>
              <a:t>Note all required edits before making any changes.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Browsing and Reading Generated Topics</a:t>
            </a:r>
          </a:p>
        </p:txBody>
      </p:sp>
      <p:sp>
        <p:nvSpPr>
          <p:cNvPr id="3" name="Content Placeholder 2"/>
          <p:cNvSpPr>
            <a:spLocks noGrp="1"/>
          </p:cNvSpPr>
          <p:nvPr>
            <p:ph idx="1"/>
          </p:nvPr>
        </p:nvSpPr>
        <p:spPr/>
        <p:txBody>
          <a:bodyPr/>
          <a:lstStyle/>
          <a:p>
            <a:r>
              <a:rPr lang="en-US" dirty="0"/>
              <a:t>The Module Topics list is your central review workspace.</a:t>
            </a:r>
          </a:p>
          <a:p>
            <a:r>
              <a:rPr lang="en-US" dirty="0"/>
              <a:t>Topic titles summarize the core idea PreseMaker extracted.</a:t>
            </a:r>
          </a:p>
          <a:p>
            <a:r>
              <a:rPr lang="en-US" dirty="0"/>
              <a:t>Titles give a quick snapshot of the proposed module structure.</a:t>
            </a:r>
          </a:p>
          <a:p>
            <a:r>
              <a:rPr lang="en-US" dirty="0"/>
              <a:t>Compare topic titles against your intended learning scope.</a:t>
            </a:r>
          </a:p>
          <a:p>
            <a:r>
              <a:rPr lang="en-US" dirty="0"/>
              <a:t>Identify gaps or misrepresentations before editing begins.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Editing Topics: Renaming and Reordering</a:t>
            </a:r>
          </a:p>
        </p:txBody>
      </p:sp>
      <p:sp>
        <p:nvSpPr>
          <p:cNvPr id="3" name="Content Placeholder 2"/>
          <p:cNvSpPr>
            <a:spLocks noGrp="1"/>
          </p:cNvSpPr>
          <p:nvPr>
            <p:ph idx="1"/>
          </p:nvPr>
        </p:nvSpPr>
        <p:spPr/>
        <p:txBody>
          <a:bodyPr/>
          <a:lstStyle/>
          <a:p>
            <a:r>
              <a:rPr lang="en-US" dirty="0"/>
              <a:t>Rename any topic or subtopic to match instructional language.</a:t>
            </a:r>
          </a:p>
          <a:p>
            <a:r>
              <a:rPr lang="en-US" dirty="0"/>
              <a:t>Clear, precise names improve learner comprehension instantly.</a:t>
            </a:r>
          </a:p>
          <a:p>
            <a:r>
              <a:rPr lang="en-US" dirty="0"/>
              <a:t>Reorder topics to create a more logical learning sequence.</a:t>
            </a:r>
          </a:p>
          <a:p>
            <a:r>
              <a:rPr lang="en-US" dirty="0"/>
              <a:t>PreseMaker provides drag-and-move tools for resequencing.</a:t>
            </a:r>
          </a:p>
          <a:p>
            <a:r>
              <a:rPr lang="en-US" dirty="0"/>
              <a:t>Review the full list before starting any individual edits.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Editing Topics: Adding and Removing Items</a:t>
            </a:r>
          </a:p>
        </p:txBody>
      </p:sp>
      <p:sp>
        <p:nvSpPr>
          <p:cNvPr id="3" name="Content Placeholder 2"/>
          <p:cNvSpPr>
            <a:spLocks noGrp="1"/>
          </p:cNvSpPr>
          <p:nvPr>
            <p:ph idx="1"/>
          </p:nvPr>
        </p:nvSpPr>
        <p:spPr/>
        <p:txBody>
          <a:bodyPr/>
          <a:lstStyle/>
          <a:p>
            <a:r>
              <a:rPr lang="en-US" dirty="0"/>
              <a:t>Add new topics or subtopics to fill identified content gaps.</a:t>
            </a:r>
          </a:p>
          <a:p>
            <a:r>
              <a:rPr lang="en-US" dirty="0"/>
              <a:t>Manually created entries match the same format as generated ones.</a:t>
            </a:r>
          </a:p>
          <a:p>
            <a:r>
              <a:rPr lang="en-US" dirty="0"/>
              <a:t>Remove redundant or out-of-scope topics to maintain focus.</a:t>
            </a:r>
          </a:p>
          <a:p>
            <a:r>
              <a:rPr lang="en-US" dirty="0"/>
              <a:t>Lean toward inclusion when unsure — review again after.</a:t>
            </a:r>
          </a:p>
          <a:p>
            <a:r>
              <a:rPr lang="en-US" dirty="0"/>
              <a:t>A focused, complete list sets up all downstream content for success.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 for Finalizing Topic Structure</a:t>
            </a:r>
          </a:p>
        </p:txBody>
      </p:sp>
      <p:sp>
        <p:nvSpPr>
          <p:cNvPr id="3" name="Content Placeholder 2"/>
          <p:cNvSpPr>
            <a:spLocks noGrp="1"/>
          </p:cNvSpPr>
          <p:nvPr>
            <p:ph idx="1"/>
          </p:nvPr>
        </p:nvSpPr>
        <p:spPr/>
        <p:txBody>
          <a:bodyPr/>
          <a:lstStyle/>
          <a:p>
            <a:r>
              <a:rPr lang="en-US" dirty="0"/>
              <a:t>Confirm every subtopic maps to a clear learning concept.</a:t>
            </a:r>
          </a:p>
          <a:p>
            <a:r>
              <a:rPr lang="en-US" dirty="0"/>
              <a:t>Ensure topic sequence reflects how learners build knowledge.</a:t>
            </a:r>
          </a:p>
          <a:p>
            <a:r>
              <a:rPr lang="en-US" dirty="0"/>
              <a:t>Validate the list against original learning objectives once more.</a:t>
            </a:r>
          </a:p>
          <a:p>
            <a:r>
              <a:rPr lang="en-US" dirty="0"/>
              <a:t>Get stakeholder sign-off before proceeding to content generation.</a:t>
            </a:r>
          </a:p>
          <a:p>
            <a:r>
              <a:rPr lang="en-US" dirty="0"/>
              <a:t>Treat finalization as a formal quality gate, not a formality.</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Impact of Topic Structure on Downstream Content</a:t>
            </a:r>
          </a:p>
        </p:txBody>
      </p:sp>
      <p:sp>
        <p:nvSpPr>
          <p:cNvPr id="3" name="Content Placeholder 2"/>
          <p:cNvSpPr>
            <a:spLocks noGrp="1"/>
          </p:cNvSpPr>
          <p:nvPr>
            <p:ph idx="1"/>
          </p:nvPr>
        </p:nvSpPr>
        <p:spPr/>
        <p:txBody>
          <a:bodyPr/>
          <a:lstStyle/>
          <a:p>
            <a:r>
              <a:rPr lang="en-US" dirty="0"/>
              <a:t>Topics are the blueprint for every content element generated.</a:t>
            </a:r>
          </a:p>
          <a:p>
            <a:r>
              <a:rPr lang="en-US" dirty="0"/>
              <a:t>Each downstream stage inherits the structure defined here.</a:t>
            </a:r>
          </a:p>
          <a:p>
            <a:r>
              <a:rPr lang="en-US" dirty="0"/>
              <a:t>Errors in topics cascade into slides, assessments, and narration.</a:t>
            </a:r>
          </a:p>
          <a:p>
            <a:r>
              <a:rPr lang="en-US" dirty="0"/>
              <a:t>A clear structure improves module coherence and instructional flow.</a:t>
            </a:r>
          </a:p>
          <a:p>
            <a:r>
              <a:rPr lang="en-US" dirty="0"/>
              <a:t>PreseMaker's pipeline treats the topic list as its core dependency.</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Cascading Effect of Topic Accuracy</a:t>
            </a:r>
          </a:p>
        </p:txBody>
      </p:sp>
      <p:sp>
        <p:nvSpPr>
          <p:cNvPr id="3" name="Content Placeholder 2"/>
          <p:cNvSpPr>
            <a:spLocks noGrp="1"/>
          </p:cNvSpPr>
          <p:nvPr>
            <p:ph idx="1"/>
          </p:nvPr>
        </p:nvSpPr>
        <p:spPr/>
        <p:txBody>
          <a:bodyPr/>
          <a:lstStyle/>
          <a:p>
            <a:r>
              <a:rPr lang="en-US" dirty="0"/>
              <a:t>Inaccurate topics generate inaccurate slides and assessments.</a:t>
            </a:r>
          </a:p>
          <a:p>
            <a:r>
              <a:rPr lang="en-US" dirty="0"/>
              <a:t>Every downstream step amplifies errors from the topic layer.</a:t>
            </a:r>
          </a:p>
          <a:p>
            <a:r>
              <a:rPr lang="en-US" dirty="0"/>
              <a:t>Fixing topics late requires regenerating all dependent content.</a:t>
            </a:r>
          </a:p>
          <a:p>
            <a:r>
              <a:rPr lang="en-US" dirty="0"/>
              <a:t>Early validation is far less costly than late-stage correction.</a:t>
            </a:r>
          </a:p>
          <a:p>
            <a:r>
              <a:rPr lang="en-US" dirty="0"/>
              <a:t>Accuracy at the topic level protects your entire development investment.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Reducing Rework Through Early Topic Validation</a:t>
            </a:r>
          </a:p>
        </p:txBody>
      </p:sp>
      <p:sp>
        <p:nvSpPr>
          <p:cNvPr id="3" name="Content Placeholder 2"/>
          <p:cNvSpPr>
            <a:spLocks noGrp="1"/>
          </p:cNvSpPr>
          <p:nvPr>
            <p:ph idx="1"/>
          </p:nvPr>
        </p:nvSpPr>
        <p:spPr/>
        <p:txBody>
          <a:bodyPr/>
          <a:lstStyle/>
          <a:p>
            <a:r>
              <a:rPr lang="en-US" dirty="0"/>
              <a:t>Validating topics early is the most effective rework-reduction strategy.</a:t>
            </a:r>
          </a:p>
          <a:p>
            <a:r>
              <a:rPr lang="en-US" dirty="0"/>
              <a:t>Review completeness, accuracy, sequence, and granularity thoroughly.</a:t>
            </a:r>
          </a:p>
          <a:p>
            <a:r>
              <a:rPr lang="en-US" dirty="0"/>
              <a:t>Involve subject-matter experts in the review whenever possible.</a:t>
            </a:r>
          </a:p>
          <a:p>
            <a:r>
              <a:rPr lang="en-US" dirty="0"/>
              <a:t>Document and resolve all concerns before triggering downstream generation.</a:t>
            </a:r>
          </a:p>
          <a:p>
            <a:r>
              <a:rPr lang="en-US" dirty="0"/>
              <a:t>A validated topic list is the highest-value deliverable at this stage.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Dependency Chain: Topics to Final Output</a:t>
            </a:r>
          </a:p>
        </p:txBody>
      </p:sp>
      <p:sp>
        <p:nvSpPr>
          <p:cNvPr id="3" name="Content Placeholder 2"/>
          <p:cNvSpPr>
            <a:spLocks noGrp="1"/>
          </p:cNvSpPr>
          <p:nvPr>
            <p:ph idx="1"/>
          </p:nvPr>
        </p:nvSpPr>
        <p:spPr/>
        <p:txBody>
          <a:bodyPr/>
          <a:lstStyle/>
          <a:p>
            <a:r>
              <a:rPr lang="en-US" dirty="0"/>
              <a:t>Topics feed subtopics, which feed all content generation steps.</a:t>
            </a:r>
          </a:p>
          <a:p>
            <a:r>
              <a:rPr lang="en-US" dirty="0"/>
              <a:t>Each pipeline stage depends on accurate output from the prior stage.</a:t>
            </a:r>
          </a:p>
          <a:p>
            <a:r>
              <a:rPr lang="en-US" dirty="0"/>
              <a:t>The topic list is the single point of origin for module content.</a:t>
            </a:r>
          </a:p>
          <a:p>
            <a:r>
              <a:rPr lang="en-US" dirty="0"/>
              <a:t>Downstream quality is bounded by the quality of the topic structure.</a:t>
            </a:r>
          </a:p>
          <a:p>
            <a:r>
              <a:rPr lang="en-US" dirty="0"/>
              <a:t>Strong topics enable PreseMaker to produce high-quality final output.</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Generating Module Topics and Subtopics</a:t>
            </a:r>
          </a:p>
        </p:txBody>
      </p:sp>
      <p:sp>
        <p:nvSpPr>
          <p:cNvPr id="3" name="Content Placeholder 2"/>
          <p:cNvSpPr>
            <a:spLocks noGrp="1"/>
          </p:cNvSpPr>
          <p:nvPr>
            <p:ph idx="1"/>
          </p:nvPr>
        </p:nvSpPr>
        <p:spPr/>
        <p:txBody>
          <a:bodyPr/>
          <a:lstStyle/>
          <a:p>
            <a:r>
              <a:rPr lang="en-US" dirty="0"/>
              <a:t>Topics and subtopics are the foundational structure of every module.</a:t>
            </a:r>
          </a:p>
          <a:p>
            <a:r>
              <a:rPr lang="en-US" dirty="0"/>
              <a:t>PreseMaker analyzes source materials to auto-generate this structure.</a:t>
            </a:r>
          </a:p>
          <a:p>
            <a:r>
              <a:rPr lang="en-US" dirty="0"/>
              <a:t>Review and edit the list for completeness, sequence, and granularity.</a:t>
            </a:r>
          </a:p>
          <a:p>
            <a:r>
              <a:rPr lang="en-US" dirty="0"/>
              <a:t>Finalize and validate the structure before generating any downstream content.</a:t>
            </a:r>
          </a:p>
          <a:p>
            <a:r>
              <a:rPr lang="en-US" dirty="0"/>
              <a:t>Early accuracy in topic structure protects quality across the entire module.</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Generating Module Topics and Subtopics</dc:title>
  <dc:creator>PreseMaker</dc:creator>
  <cp:lastModifiedBy>PreseMaker</cp:lastModifiedBy>
  <dcterms:created xsi:type="dcterms:W3CDTF">2026-07-09T13:21:00Z</dcterms:created>
  <dcterms:modified xsi:type="dcterms:W3CDTF">2026-07-09T13:21:00Z</dcterms:modified>
</cp:coreProperties>
</file>