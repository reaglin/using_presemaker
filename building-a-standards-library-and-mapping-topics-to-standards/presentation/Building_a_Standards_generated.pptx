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 this presentation on the Standards Library in PreseMaker. Over the next several slides, we will walk through what the Standards Library is, how to build it using AI assistance, how to interpret the Verified and Unverified markers, how cognitive levels work, and how to map your course topics and learning outcomes to standards. By the end, you will have a clear, practical understanding of how to use this feature effectively.</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Standards Library is a central repository of academic standards that you construct once and then apply across multiple courses without rebuilding it each time. Its primary purpose is to connect your course content to recognized academic standards frameworks, making it possible to track systematically whether your courses cover the standards they are required to address. It is important to note that the Standards Library is currently labeled 'System in Development,' which means it is a newer capability whose requirements and features are still being refined. Despite this, it is fully functional and its core advantage — reusability across courses — is a significant time-saver for instructional designers and educators.</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build your Standards Library, you give PreseMaker one of three types of input: a standards framework description, a web page URL pointing to an official standards source, or text pasted directly from a standards document. PreseMaker's AI then reads that material and extracts individual standards into your library automatically. This eliminates the need to manually type each standard, which can be a significant time investment when working with large frameworks. Once extraction is complete, you review the populated standards to check for accuracy or completeness before committing them to the library. Saving the library finalizes the workflow and makes those standards available for mapping across multiple courses.</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After the AI extracts standards, each one receives a Verified or Unverified label. It is critical to understand that this marker indicates provenance — where the standard came from — not how confident the AI is about its output, nor whether you or anyone else has approved the standard. A standard is marked Verified when the AI extracted it from an actual source you provided, such as a URL or pasted text from an official standards website. A standard is marked Unverified when the AI generated it based only on a framework name, with no real source document for it to read. This distinction has important practical consequences, which the next slide covers in detail.</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When the AI generates standards from a framework name without an actual source document to read, it relies on its training data. That training data may be incomplete, outdated, or simply inaccurate for specific standard codes and precise wording — particularly for niche or recently updated frameworks. As a result, Unverified standards may contain codes or language that are approximate or entirely invented. The appropriate response is to check every Unverified standard against the officially published source before using it in your course mapping. It is also important to understand what the marker does not tell you: it does not indicate the degree of error, so you cannot assume an Unverified standard is mostly correct. Treat all Unverified standards as needing full review.</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Each standard stored in the Standards Library can have a Bloom's Taxonomy cognitive level assigned to it as one of its properties. Bloom's Taxonomy organizes cognitive learning into a hierarchy — from lower-order skills like remembering and understanding, up through applying, analyzing, evaluating, and creating. The cognitive level you assign to a standard establishes a benchmark: it defines how deeply course content must address that standard to be considered adequate coverage. Because this level is set at the library stage and then applied to every course that maps to those standards, accuracy here is especially important. An incorrect cognitive level assignment will propagate into all downstream coverage assessments, potentially misrepresenting whether a course is meeting its standards requirements.</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cognitive level assigned to each standard plays a direct role in the Standards Coverage view. Rather than simply checking whether a topic or learning outcome is mapped to a standard, the coverage view assesses whether the mapped content addresses that standard at the required depth — the depth defined by the assigned Bloom's level. This means coverage reporting can surface gaps in depth, not just gaps in topic presence. For example, if a standard requires analysis-level thinking but the mapped learning outcome only addresses recall, the coverage view can reflect that mismatch. This makes the cognitive level one of the most consequential properties you assign in the Standards Library, and it underscores the importance of reviewing these assignments carefully before finalizing your library.</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Mapping is the process of connecting your course's topics and learning outcomes to the relevant standards stored in your Standards Library. This connection is the foundation that makes accurate standards coverage reporting possible — without it, the system has no basis for determining which standards your course addresses or how thoroughly. Individual course topics can be linked to one or more standards to indicate which standards that topic covers. Learning outcomes offer an even more precise layer of alignment, connecting what learners are expected to demonstrate directly to the standard being addressed. Both levels of mapping contribute to a complete and accurate coverage picture.</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mapping workflow involves selecting a course topic and linking it to one or more standards from your Standards Library, indicating which standards that topic addresses. Learning outcomes can also be mapped to standards, providing a more granular alignment between demonstrated learner performance and the standard in question. As you map, the cognitive level assigned to each standard in the library continues to play a role — the coverage view will later use that level to evaluate whether your mapped content addresses the standard at sufficient depth. Once you have mapped topics and outcomes, reviewing the full set of connections is an important final step. Confirming completeness and accuracy at this stage ensures that your coverage reports reflect reality and can be relied upon for reporting or accreditation purposes.</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the Standards Library is a reusable collection of academic standards that you build once in PreseMaker and apply across multiple courses. The AI can extract standards from a URL, pasted text, or a framework name — but only standards drawn from a real source you provided receive the Verified marker. Unverified standards were generated from a framework name alone and must be checked against official sources, as they may contain approximate or invented codes and wording. Each standard can carry a Bloom's Taxonomy cognitive level, which sets the depth benchmark for coverage assessment and propagates into every course that maps to those standards. Finally, mapping your topics and learning outcomes to library standards is what makes the Standards Coverage view meaningful — it transforms your course structure into actionable alignment data. Used carefully, the Standards Library is a powerful tool for systematic, scalable standards coverage.</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a Standards Library and Mapping Topics to Standards</a:t>
            </a:r>
          </a:p>
        </p:txBody>
      </p:sp>
      <p:sp>
        <p:nvSpPr>
          <p:cNvPr id="3" name="Content Placeholder 2"/>
          <p:cNvSpPr>
            <a:spLocks noGrp="1"/>
          </p:cNvSpPr>
          <p:nvPr>
            <p:ph idx="1"/>
          </p:nvPr>
        </p:nvSpPr>
        <p:spPr/>
        <p:txBody>
          <a:bodyPr/>
          <a:lstStyle/>
          <a:p>
            <a:pPr algn="ctr">
              <a:buNone/>
            </a:pPr>
            <a:r>
              <a:rPr lang="en-US" dirty="0"/>
              <a:t>A professional guide to creating, verifying, and applying academic standards across your courses in PreseMaker.</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Standards Library?</a:t>
            </a:r>
          </a:p>
        </p:txBody>
      </p:sp>
      <p:sp>
        <p:nvSpPr>
          <p:cNvPr id="3" name="Content Placeholder 2"/>
          <p:cNvSpPr>
            <a:spLocks noGrp="1"/>
          </p:cNvSpPr>
          <p:nvPr>
            <p:ph idx="1"/>
          </p:nvPr>
        </p:nvSpPr>
        <p:spPr/>
        <p:txBody>
          <a:bodyPr/>
          <a:lstStyle/>
          <a:p>
            <a:r>
              <a:rPr lang="en-US" dirty="0"/>
              <a:t>A reusable collection of academic standards built once.</a:t>
            </a:r>
          </a:p>
          <a:p>
            <a:r>
              <a:rPr lang="en-US" dirty="0"/>
              <a:t>Connects course content to recognized academic standards.</a:t>
            </a:r>
          </a:p>
          <a:p>
            <a:r>
              <a:rPr lang="en-US" dirty="0"/>
              <a:t>Enables systematic tracking of standards coverage.</a:t>
            </a:r>
          </a:p>
          <a:p>
            <a:r>
              <a:rPr lang="en-US" dirty="0"/>
              <a:t>Currently labeled 'System in Development' — an evolving feature.</a:t>
            </a:r>
          </a:p>
          <a:p>
            <a:r>
              <a:rPr lang="en-US" dirty="0"/>
              <a:t>One library can map to multiple courses.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the Library with AI</a:t>
            </a:r>
          </a:p>
        </p:txBody>
      </p:sp>
      <p:sp>
        <p:nvSpPr>
          <p:cNvPr id="3" name="Content Placeholder 2"/>
          <p:cNvSpPr>
            <a:spLocks noGrp="1"/>
          </p:cNvSpPr>
          <p:nvPr>
            <p:ph idx="1"/>
          </p:nvPr>
        </p:nvSpPr>
        <p:spPr/>
        <p:txBody>
          <a:bodyPr/>
          <a:lstStyle/>
          <a:p>
            <a:r>
              <a:rPr lang="en-US" dirty="0"/>
              <a:t>Provide a framework description, URL, or pasted text.</a:t>
            </a:r>
          </a:p>
          <a:p>
            <a:r>
              <a:rPr lang="en-US" dirty="0"/>
              <a:t>AI reads your input and extracts individual standards automatically.</a:t>
            </a:r>
          </a:p>
          <a:p>
            <a:r>
              <a:rPr lang="en-US" dirty="0"/>
              <a:t>No need to enter each standard by hand.</a:t>
            </a:r>
          </a:p>
          <a:p>
            <a:r>
              <a:rPr lang="en-US" dirty="0"/>
              <a:t>Review extracted standards before saving.</a:t>
            </a:r>
          </a:p>
          <a:p>
            <a:r>
              <a:rPr lang="en-US" dirty="0"/>
              <a:t>Save the library to make standards available for reuse.</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Verified vs. Unverified: What the Marker Means</a:t>
            </a:r>
          </a:p>
        </p:txBody>
      </p:sp>
      <p:sp>
        <p:nvSpPr>
          <p:cNvPr id="3" name="Content Placeholder 2"/>
          <p:cNvSpPr>
            <a:spLocks noGrp="1"/>
          </p:cNvSpPr>
          <p:nvPr>
            <p:ph idx="1"/>
          </p:nvPr>
        </p:nvSpPr>
        <p:spPr/>
        <p:txBody>
          <a:bodyPr/>
          <a:lstStyle/>
          <a:p>
            <a:r>
              <a:rPr lang="en-US" dirty="0"/>
              <a:t>Each standard is labeled Verified or Unverified.</a:t>
            </a:r>
          </a:p>
          <a:p>
            <a:r>
              <a:rPr lang="en-US" dirty="0"/>
              <a:t>The marker indicates provenance — the origin of the standard.</a:t>
            </a:r>
          </a:p>
          <a:p>
            <a:r>
              <a:rPr lang="en-US" dirty="0"/>
              <a:t>It is not a confidence score or approval status.</a:t>
            </a:r>
          </a:p>
          <a:p>
            <a:r>
              <a:rPr lang="en-US" dirty="0"/>
              <a:t>Verified: extracted from a real source you provided.</a:t>
            </a:r>
          </a:p>
          <a:p>
            <a:r>
              <a:rPr lang="en-US" dirty="0"/>
              <a:t>Unverified: generated from a framework name alone.</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Unverified Standards Require Your Attention</a:t>
            </a:r>
          </a:p>
        </p:txBody>
      </p:sp>
      <p:sp>
        <p:nvSpPr>
          <p:cNvPr id="3" name="Content Placeholder 2"/>
          <p:cNvSpPr>
            <a:spLocks noGrp="1"/>
          </p:cNvSpPr>
          <p:nvPr>
            <p:ph idx="1"/>
          </p:nvPr>
        </p:nvSpPr>
        <p:spPr/>
        <p:txBody>
          <a:bodyPr/>
          <a:lstStyle/>
          <a:p>
            <a:r>
              <a:rPr lang="en-US" dirty="0"/>
              <a:t>AI draws on training data when no source is provided.</a:t>
            </a:r>
          </a:p>
          <a:p>
            <a:r>
              <a:rPr lang="en-US" dirty="0"/>
              <a:t>Training data may be incomplete, outdated, or inaccurate.</a:t>
            </a:r>
          </a:p>
          <a:p>
            <a:r>
              <a:rPr lang="en-US" dirty="0"/>
              <a:t>Standard codes and wording may be approximate or invented.</a:t>
            </a:r>
          </a:p>
          <a:p>
            <a:r>
              <a:rPr lang="en-US" dirty="0"/>
              <a:t>Always verify Unverified standards against official sources.</a:t>
            </a:r>
          </a:p>
          <a:p>
            <a:r>
              <a:rPr lang="en-US" dirty="0"/>
              <a:t>The marker does not indicate how wrong a standard might be.</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Cognitive Levels on Standards</a:t>
            </a:r>
          </a:p>
        </p:txBody>
      </p:sp>
      <p:sp>
        <p:nvSpPr>
          <p:cNvPr id="3" name="Content Placeholder 2"/>
          <p:cNvSpPr>
            <a:spLocks noGrp="1"/>
          </p:cNvSpPr>
          <p:nvPr>
            <p:ph idx="1"/>
          </p:nvPr>
        </p:nvSpPr>
        <p:spPr/>
        <p:txBody>
          <a:bodyPr/>
          <a:lstStyle/>
          <a:p>
            <a:r>
              <a:rPr lang="en-US" dirty="0"/>
              <a:t>Each standard can carry a Bloom's Taxonomy cognitive level.</a:t>
            </a:r>
          </a:p>
          <a:p>
            <a:r>
              <a:rPr lang="en-US" dirty="0"/>
              <a:t>Bloom's organizes learning from basic recall to complex creation.</a:t>
            </a:r>
          </a:p>
          <a:p>
            <a:r>
              <a:rPr lang="en-US" dirty="0"/>
              <a:t>The cognitive level sets a depth benchmark for that standard.</a:t>
            </a:r>
          </a:p>
          <a:p>
            <a:r>
              <a:rPr lang="en-US" dirty="0"/>
              <a:t>Accurate assignment at this stage is critical.</a:t>
            </a:r>
          </a:p>
          <a:p>
            <a:r>
              <a:rPr lang="en-US" dirty="0"/>
              <a:t>Errors propagate into every course mapped to that standard.</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Cognitive Level Drives the Coverage View</a:t>
            </a:r>
          </a:p>
        </p:txBody>
      </p:sp>
      <p:sp>
        <p:nvSpPr>
          <p:cNvPr id="3" name="Content Placeholder 2"/>
          <p:cNvSpPr>
            <a:spLocks noGrp="1"/>
          </p:cNvSpPr>
          <p:nvPr>
            <p:ph idx="1"/>
          </p:nvPr>
        </p:nvSpPr>
        <p:spPr/>
        <p:txBody>
          <a:bodyPr/>
          <a:lstStyle/>
          <a:p>
            <a:r>
              <a:rPr lang="en-US" dirty="0"/>
              <a:t>Standards Coverage view uses cognitive level as an evaluation benchmark.</a:t>
            </a:r>
          </a:p>
          <a:p>
            <a:r>
              <a:rPr lang="en-US" dirty="0"/>
              <a:t>Content must meet or exceed the standard's assigned level.</a:t>
            </a:r>
          </a:p>
          <a:p>
            <a:r>
              <a:rPr lang="en-US" dirty="0"/>
              <a:t>Helps identify gaps in depth, not just topic presence.</a:t>
            </a:r>
          </a:p>
          <a:p>
            <a:r>
              <a:rPr lang="en-US" dirty="0"/>
              <a:t>Getting levels right ensures meaningful coverage reports.</a:t>
            </a:r>
          </a:p>
          <a:p>
            <a:r>
              <a:rPr lang="en-US" dirty="0"/>
              <a:t>Review cognitive level assignments carefully before finalizing.</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Mapping Means in PreseMaker</a:t>
            </a:r>
          </a:p>
        </p:txBody>
      </p:sp>
      <p:sp>
        <p:nvSpPr>
          <p:cNvPr id="3" name="Content Placeholder 2"/>
          <p:cNvSpPr>
            <a:spLocks noGrp="1"/>
          </p:cNvSpPr>
          <p:nvPr>
            <p:ph idx="1"/>
          </p:nvPr>
        </p:nvSpPr>
        <p:spPr/>
        <p:txBody>
          <a:bodyPr/>
          <a:lstStyle/>
          <a:p>
            <a:r>
              <a:rPr lang="en-US" dirty="0"/>
              <a:t>Mapping links course topics and outcomes to library standards.</a:t>
            </a:r>
          </a:p>
          <a:p>
            <a:r>
              <a:rPr lang="en-US" dirty="0"/>
              <a:t>It is the foundation of standards coverage reporting.</a:t>
            </a:r>
          </a:p>
          <a:p>
            <a:r>
              <a:rPr lang="en-US" dirty="0"/>
              <a:t>Without mapping, no coverage data is generated.</a:t>
            </a:r>
          </a:p>
          <a:p>
            <a:r>
              <a:rPr lang="en-US" dirty="0"/>
              <a:t>Topics can link to one or more standards.</a:t>
            </a:r>
          </a:p>
          <a:p>
            <a:r>
              <a:rPr lang="en-US" dirty="0"/>
              <a:t>Learning outcomes provide more precise alignment.</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Mapping Topics and Learning Outcomes to Standards</a:t>
            </a:r>
          </a:p>
        </p:txBody>
      </p:sp>
      <p:sp>
        <p:nvSpPr>
          <p:cNvPr id="3" name="Content Placeholder 2"/>
          <p:cNvSpPr>
            <a:spLocks noGrp="1"/>
          </p:cNvSpPr>
          <p:nvPr>
            <p:ph idx="1"/>
          </p:nvPr>
        </p:nvSpPr>
        <p:spPr/>
        <p:txBody>
          <a:bodyPr/>
          <a:lstStyle/>
          <a:p>
            <a:r>
              <a:rPr lang="en-US" dirty="0"/>
              <a:t>Select a topic and link it to relevant library standards.</a:t>
            </a:r>
          </a:p>
          <a:p>
            <a:r>
              <a:rPr lang="en-US" dirty="0"/>
              <a:t>Link learning outcomes to standards for precise alignment.</a:t>
            </a:r>
          </a:p>
          <a:p>
            <a:r>
              <a:rPr lang="en-US" dirty="0"/>
              <a:t>Cognitive level informs how coverage is evaluated.</a:t>
            </a:r>
          </a:p>
          <a:p>
            <a:r>
              <a:rPr lang="en-US" dirty="0"/>
              <a:t>Review all mappings for completeness and accuracy.</a:t>
            </a:r>
          </a:p>
          <a:p>
            <a:r>
              <a:rPr lang="en-US" dirty="0"/>
              <a:t>Confirmed mappings enable reliable coverage reports.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and Key Takeaways</a:t>
            </a:r>
          </a:p>
        </p:txBody>
      </p:sp>
      <p:sp>
        <p:nvSpPr>
          <p:cNvPr id="3" name="Content Placeholder 2"/>
          <p:cNvSpPr>
            <a:spLocks noGrp="1"/>
          </p:cNvSpPr>
          <p:nvPr>
            <p:ph idx="1"/>
          </p:nvPr>
        </p:nvSpPr>
        <p:spPr/>
        <p:txBody>
          <a:bodyPr/>
          <a:lstStyle/>
          <a:p>
            <a:r>
              <a:rPr lang="en-US" dirty="0"/>
              <a:t>The Standards Library is built once and reused across courses.</a:t>
            </a:r>
          </a:p>
          <a:p>
            <a:r>
              <a:rPr lang="en-US" dirty="0"/>
              <a:t>AI extracts standards from URLs, pasted text, or framework names.</a:t>
            </a:r>
          </a:p>
          <a:p>
            <a:r>
              <a:rPr lang="en-US" dirty="0"/>
              <a:t>Verified means sourced from real input; Unverified needs review.</a:t>
            </a:r>
          </a:p>
          <a:p>
            <a:r>
              <a:rPr lang="en-US" dirty="0"/>
              <a:t>Cognitive levels define required depth and drive coverage assessment.</a:t>
            </a:r>
          </a:p>
          <a:p>
            <a:r>
              <a:rPr lang="en-US" dirty="0"/>
              <a:t>Mapping topics and outcomes to standards enables accurate reporting.</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10</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Building a Standards Library and Mapping Topics to Standards</dc:title>
  <dc:creator>PreseMaker</dc:creator>
  <cp:lastModifiedBy>PreseMaker</cp:lastModifiedBy>
  <dcterms:created xsi:type="dcterms:W3CDTF">2026-07-09T13:33:32Z</dcterms:created>
  <dcterms:modified xsi:type="dcterms:W3CDTF">2026-07-09T13:33:32Z</dcterms:modified>
</cp:coreProperties>
</file>