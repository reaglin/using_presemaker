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 this presentation on generating interactive activities and custom materials in PreseMaker. We'll walk through the full range of tools available—from pre-built game-like templates to the custom materials generator—and show you how to locate every artifact you produce through the Module Index.</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PreseMaker's interactive activity templates are ready-to-use formats designed to make learning participatory. Rather than presenting information in a static format, these templates challenge learners to interact with content directly. They are a core component of PreseMaker's broader module workflow, complementing custom-built materials to produce a complete set of learning artifacts.</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PreseMaker's library covers a range of template types, each designed with a particular instructional goal in mind. Matching and flashcard templates support vocabulary and concept recognition. Cloze passages and crossword puzzles reinforce contextual and word-level recall. Understanding which template to use helps instructors align activities with the right learning outcomes. We'll explore each of these in detail in the following slides.</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Matching activities challenge learners to draw connections between terms and their meanings, testing whether they can correctly associate paired content. Flashcard activities add a recall layer—learners must retrieve the answer from memory before seeing confirmation. Together, these two formats target foundational skills: vocabulary acquisition and concept recognition. These skills are essential building blocks for deeper content mastery and are especially valuable early in a learning sequence.</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Generating a matching or flashcard activity in PreseMaker is straightforward. You navigate to the interactive activity generator, select the desired template type, and initiate generation. PreseMaker uses the module's AI-identified key terms to populate the activity content automatically. Once generated, the artifact is saved to the Module Index, where it can be located and reviewed alongside all other module materials. This ensures nothing is lost and everything is traceable.</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cloze passage is a reading-based activity where targeted words are removed and replaced with blanks. Learners must draw on their understanding of the content to supply the missing terms. In PreseMaker, the AI identifies key terms from the module and uses them to decide which words to omit. Because the terms appear within full sentences and paragraphs, learners practice vocabulary in context—a more demanding and meaningful task than matching or flashcard recall alone.</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Crossword puzzles in PreseMaker are automatically built from the module's key terms, with each term serving as an answer in the grid. Learners use definitional or contextual clues to identify and spell each term correctly. While cloze passages emphasize understanding vocabulary in context, crosswords focus on precise word-level recall and spelling—making the two formats complementary. Together, they cover both contextual comprehension and accurate term retrieval.</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Generating cloze passages and crossword puzzles follows the same general workflow as other interactive activity templates. You select the appropriate template from the generator, and PreseMaker uses the module's key terms to automatically populate the content—removing terms for blanks in cloze passages or mapping them to grid entries in crosswords. Once generation is complete, the artifact is saved directly to the Module Index for easy access and retrieval.</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While the interactive activity templates cover common instructional formats, PreseMaker's custom materials generator gives instructors the flexibility to produce content that doesn't fit a standard template. Instructors define the material type they need, then configure the generator by describing the topic, the target audience, and the scope of the content. PreseMaker uses these inputs to generate a custom HTML artifact tailored to those specifications.</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configuration step is critical to getting accurate output from the custom materials generator. Instructors should clearly describe what they want the material to accomplish, who it is for, and what content it should cover. The more precise and detailed the input, the more closely the output will align with instructional needs. Once configuration is complete, instructors initiate generation, and PreseMaker produces the custom artifact ready for use.</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Module Index serves as the single source of truth for everything produced during a module session. Whether you've generated a flashcard set, a crossword puzzle, a cloze passage, or a custom material, each artifact is automatically cataloged here. Artifacts are labeled by type, making it easy to distinguish between different content categories at a glance. This centralized approach ensures that nothing gets lost and that all materials are available for review or use at any time.</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Navigating to the Module Index is simple and can be done from anywhere within PreseMaker. Once there, you'll see a labeled list of all generated artifacts. You can open any artifact directly to review its content or confirm it meets your needs. The Module Index also provides basic organizational tools to help you manage and structure content as it grows. After generating any activity or material, it's good practice to verify that the new artifact appears correctly in the index before moving on.</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PreseMaker's interactive activity templates—including matching, flashcards, cloze passages, and crossword puzzles—give instructors powerful tools to engage learners in active practice. The custom materials generator extends that capability to any content type an instructor needs. And the Module Index ties everything together by serving as a centralized, organized repository for every artifact produced. By understanding and using all of these tools together, instructors can produce complete, high-quality module content efficiently and consistently.</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Interactive Activities and Custom Materials</a:t>
            </a:r>
          </a:p>
        </p:txBody>
      </p:sp>
      <p:sp>
        <p:nvSpPr>
          <p:cNvPr id="3" name="Content Placeholder 2"/>
          <p:cNvSpPr>
            <a:spLocks noGrp="1"/>
          </p:cNvSpPr>
          <p:nvPr>
            <p:ph idx="1"/>
          </p:nvPr>
        </p:nvSpPr>
        <p:spPr/>
        <p:txBody>
          <a:bodyPr/>
          <a:lstStyle/>
          <a:p>
            <a:pPr algn="ctr">
              <a:buNone/>
            </a:pPr>
            <a:r>
              <a:rPr lang="en-US" dirty="0"/>
              <a:t>A practical guide to using PreseMaker's templates and custom tools to create engaging, high-quality learning content.</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Interactive Activity Templates?</a:t>
            </a:r>
          </a:p>
        </p:txBody>
      </p:sp>
      <p:sp>
        <p:nvSpPr>
          <p:cNvPr id="3" name="Content Placeholder 2"/>
          <p:cNvSpPr>
            <a:spLocks noGrp="1"/>
          </p:cNvSpPr>
          <p:nvPr>
            <p:ph idx="1"/>
          </p:nvPr>
        </p:nvSpPr>
        <p:spPr/>
        <p:txBody>
          <a:bodyPr/>
          <a:lstStyle/>
          <a:p>
            <a:r>
              <a:rPr lang="en-US" dirty="0"/>
              <a:t>Pre-built, game-like templates transform instructional content into engaging experiences.</a:t>
            </a:r>
          </a:p>
          <a:p>
            <a:r>
              <a:rPr lang="en-US" dirty="0"/>
              <a:t>Templates serve a deliberate instructional purpose beyond simple content delivery.</a:t>
            </a:r>
          </a:p>
          <a:p>
            <a:r>
              <a:rPr lang="en-US" dirty="0"/>
              <a:t>Learners participate actively rather than consuming content passively.</a:t>
            </a:r>
          </a:p>
          <a:p>
            <a:r>
              <a:rPr lang="en-US" dirty="0"/>
              <a:t>Templates standardize quality and accelerate course production.</a:t>
            </a:r>
          </a:p>
          <a:p>
            <a:r>
              <a:rPr lang="en-US" dirty="0"/>
              <a:t>They work alongside custom materials within the module workflow.</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of Available Template Types</a:t>
            </a:r>
          </a:p>
        </p:txBody>
      </p:sp>
      <p:sp>
        <p:nvSpPr>
          <p:cNvPr id="3" name="Content Placeholder 2"/>
          <p:cNvSpPr>
            <a:spLocks noGrp="1"/>
          </p:cNvSpPr>
          <p:nvPr>
            <p:ph idx="1"/>
          </p:nvPr>
        </p:nvSpPr>
        <p:spPr/>
        <p:txBody>
          <a:bodyPr/>
          <a:lstStyle/>
          <a:p>
            <a:r>
              <a:rPr lang="en-US" dirty="0"/>
              <a:t>PreseMaker offers several distinct template types for varied goals.</a:t>
            </a:r>
          </a:p>
          <a:p>
            <a:r>
              <a:rPr lang="en-US" dirty="0"/>
              <a:t>Each template is suited to specific instructional content structures.</a:t>
            </a:r>
          </a:p>
          <a:p>
            <a:r>
              <a:rPr lang="en-US" dirty="0"/>
              <a:t>Template types include matching, flashcards, cloze passages, and crosswords.</a:t>
            </a:r>
          </a:p>
          <a:p>
            <a:r>
              <a:rPr lang="en-US" dirty="0"/>
              <a:t>Choosing the right template depends on your learning objectives.</a:t>
            </a:r>
          </a:p>
          <a:p>
            <a:r>
              <a:rPr lang="en-US" dirty="0"/>
              <a:t>All templates are accessible from the interactive activity generator.</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Matching and Flashcard Templates</a:t>
            </a:r>
          </a:p>
        </p:txBody>
      </p:sp>
      <p:sp>
        <p:nvSpPr>
          <p:cNvPr id="3" name="Content Placeholder 2"/>
          <p:cNvSpPr>
            <a:spLocks noGrp="1"/>
          </p:cNvSpPr>
          <p:nvPr>
            <p:ph idx="1"/>
          </p:nvPr>
        </p:nvSpPr>
        <p:spPr/>
        <p:txBody>
          <a:bodyPr/>
          <a:lstStyle/>
          <a:p>
            <a:r>
              <a:rPr lang="en-US" dirty="0"/>
              <a:t>Matching activities pair key terms with definitions or descriptions.</a:t>
            </a:r>
          </a:p>
          <a:p>
            <a:r>
              <a:rPr lang="en-US" dirty="0"/>
              <a:t>Learners must correctly connect related items to complete the activity.</a:t>
            </a:r>
          </a:p>
          <a:p>
            <a:r>
              <a:rPr lang="en-US" dirty="0"/>
              <a:t>Flashcards present one side of a term-definition pair at a time.</a:t>
            </a:r>
          </a:p>
          <a:p>
            <a:r>
              <a:rPr lang="en-US" dirty="0"/>
              <a:t>Learners recall the corresponding information before flipping to confirm.</a:t>
            </a:r>
          </a:p>
          <a:p>
            <a:r>
              <a:rPr lang="en-US" dirty="0"/>
              <a:t>Both formats reinforce vocabulary acquisition and concept recognition.</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Matching and Flashcard Activities</a:t>
            </a:r>
          </a:p>
        </p:txBody>
      </p:sp>
      <p:sp>
        <p:nvSpPr>
          <p:cNvPr id="3" name="Content Placeholder 2"/>
          <p:cNvSpPr>
            <a:spLocks noGrp="1"/>
          </p:cNvSpPr>
          <p:nvPr>
            <p:ph idx="1"/>
          </p:nvPr>
        </p:nvSpPr>
        <p:spPr/>
        <p:txBody>
          <a:bodyPr/>
          <a:lstStyle/>
          <a:p>
            <a:r>
              <a:rPr lang="en-US" dirty="0"/>
              <a:t>Activities are built directly from the module's key terms.</a:t>
            </a:r>
          </a:p>
          <a:p>
            <a:r>
              <a:rPr lang="en-US" dirty="0"/>
              <a:t>The generation process follows a straightforward workflow in PreseMaker.</a:t>
            </a:r>
          </a:p>
          <a:p>
            <a:r>
              <a:rPr lang="en-US" dirty="0"/>
              <a:t>Initiate generation from within the interactive activity generator.</a:t>
            </a:r>
          </a:p>
          <a:p>
            <a:r>
              <a:rPr lang="en-US" dirty="0"/>
              <a:t>Generated artifacts are stored in the Module Index automatically.</a:t>
            </a:r>
          </a:p>
          <a:p>
            <a:r>
              <a:rPr lang="en-US" dirty="0"/>
              <a:t>Artifacts can be retrieved and reviewed at any time.</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Cloze Passages: Fill-in-the-Blank Practice</a:t>
            </a:r>
          </a:p>
        </p:txBody>
      </p:sp>
      <p:sp>
        <p:nvSpPr>
          <p:cNvPr id="3" name="Content Placeholder 2"/>
          <p:cNvSpPr>
            <a:spLocks noGrp="1"/>
          </p:cNvSpPr>
          <p:nvPr>
            <p:ph idx="1"/>
          </p:nvPr>
        </p:nvSpPr>
        <p:spPr/>
        <p:txBody>
          <a:bodyPr/>
          <a:lstStyle/>
          <a:p>
            <a:r>
              <a:rPr lang="en-US" dirty="0"/>
              <a:t>Cloze passages remove specific words for learners to fill in.</a:t>
            </a:r>
          </a:p>
          <a:p>
            <a:r>
              <a:rPr lang="en-US" dirty="0"/>
              <a:t>Learners supply missing words from memory or contextual clues.</a:t>
            </a:r>
          </a:p>
          <a:p>
            <a:r>
              <a:rPr lang="en-US" dirty="0"/>
              <a:t>PreseMaker uses AI-selected key terms to determine which words are removed.</a:t>
            </a:r>
          </a:p>
          <a:p>
            <a:r>
              <a:rPr lang="en-US" dirty="0"/>
              <a:t>This format emphasizes vocabulary practice within meaningful context.</a:t>
            </a:r>
          </a:p>
          <a:p>
            <a:r>
              <a:rPr lang="en-US" dirty="0"/>
              <a:t>Cloze activities deepen comprehension beyond simple definition recall.</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Crossword Puzzle Templates</a:t>
            </a:r>
          </a:p>
        </p:txBody>
      </p:sp>
      <p:sp>
        <p:nvSpPr>
          <p:cNvPr id="3" name="Content Placeholder 2"/>
          <p:cNvSpPr>
            <a:spLocks noGrp="1"/>
          </p:cNvSpPr>
          <p:nvPr>
            <p:ph idx="1"/>
          </p:nvPr>
        </p:nvSpPr>
        <p:spPr/>
        <p:txBody>
          <a:bodyPr/>
          <a:lstStyle/>
          <a:p>
            <a:r>
              <a:rPr lang="en-US" dirty="0"/>
              <a:t>Crossword puzzles challenge learners to recall key terms from clues.</a:t>
            </a:r>
          </a:p>
          <a:p>
            <a:r>
              <a:rPr lang="en-US" dirty="0"/>
              <a:t>Each key term becomes an answer entry in the puzzle grid.</a:t>
            </a:r>
          </a:p>
          <a:p>
            <a:r>
              <a:rPr lang="en-US" dirty="0"/>
              <a:t>Clues are definitional or contextual, drawn from module content.</a:t>
            </a:r>
          </a:p>
          <a:p>
            <a:r>
              <a:rPr lang="en-US" dirty="0"/>
              <a:t>Crosswords focus on word-level recall and correct spelling.</a:t>
            </a:r>
          </a:p>
          <a:p>
            <a:r>
              <a:rPr lang="en-US" dirty="0"/>
              <a:t>They complement cloze passages by targeting different recall skills.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Cloze and Crossword Activities</a:t>
            </a:r>
          </a:p>
        </p:txBody>
      </p:sp>
      <p:sp>
        <p:nvSpPr>
          <p:cNvPr id="3" name="Content Placeholder 2"/>
          <p:cNvSpPr>
            <a:spLocks noGrp="1"/>
          </p:cNvSpPr>
          <p:nvPr>
            <p:ph idx="1"/>
          </p:nvPr>
        </p:nvSpPr>
        <p:spPr/>
        <p:txBody>
          <a:bodyPr/>
          <a:lstStyle/>
          <a:p>
            <a:r>
              <a:rPr lang="en-US" dirty="0"/>
              <a:t>Both activity types are populated automatically from module key terms.</a:t>
            </a:r>
          </a:p>
          <a:p>
            <a:r>
              <a:rPr lang="en-US" dirty="0"/>
              <a:t>Navigate to the interactive activity generator to begin.</a:t>
            </a:r>
          </a:p>
          <a:p>
            <a:r>
              <a:rPr lang="en-US" dirty="0"/>
              <a:t>Select the cloze or crossword template and initiate generation.</a:t>
            </a:r>
          </a:p>
          <a:p>
            <a:r>
              <a:rPr lang="en-US" dirty="0"/>
              <a:t>PreseMaker produces the activity based on extracted content.</a:t>
            </a:r>
          </a:p>
          <a:p>
            <a:r>
              <a:rPr lang="en-US" dirty="0"/>
              <a:t>Completed artifacts are saved to the Module Index immediately.</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Custom Materials Generator</a:t>
            </a:r>
          </a:p>
        </p:txBody>
      </p:sp>
      <p:sp>
        <p:nvSpPr>
          <p:cNvPr id="3" name="Content Placeholder 2"/>
          <p:cNvSpPr>
            <a:spLocks noGrp="1"/>
          </p:cNvSpPr>
          <p:nvPr>
            <p:ph idx="1"/>
          </p:nvPr>
        </p:nvSpPr>
        <p:spPr/>
        <p:txBody>
          <a:bodyPr/>
          <a:lstStyle/>
          <a:p>
            <a:r>
              <a:rPr lang="en-US" dirty="0"/>
              <a:t>The custom materials generator produces tailored content beyond standard templates.</a:t>
            </a:r>
          </a:p>
          <a:p>
            <a:r>
              <a:rPr lang="en-US" dirty="0"/>
              <a:t>Instructors define the type of material they want to create.</a:t>
            </a:r>
          </a:p>
          <a:p>
            <a:r>
              <a:rPr lang="en-US" dirty="0"/>
              <a:t>Specify topic focus, audience level, and content scope.</a:t>
            </a:r>
          </a:p>
          <a:p>
            <a:r>
              <a:rPr lang="en-US" dirty="0"/>
              <a:t>PreseMaker generates custom HTML output based on your inputs.</a:t>
            </a:r>
          </a:p>
          <a:p>
            <a:r>
              <a:rPr lang="en-US" dirty="0"/>
              <a:t>Custom materials expand the range of producible instructional content.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Configuring and Generating Custom Materials</a:t>
            </a:r>
          </a:p>
        </p:txBody>
      </p:sp>
      <p:sp>
        <p:nvSpPr>
          <p:cNvPr id="3" name="Content Placeholder 2"/>
          <p:cNvSpPr>
            <a:spLocks noGrp="1"/>
          </p:cNvSpPr>
          <p:nvPr>
            <p:ph idx="1"/>
          </p:nvPr>
        </p:nvSpPr>
        <p:spPr/>
        <p:txBody>
          <a:bodyPr/>
          <a:lstStyle/>
          <a:p>
            <a:r>
              <a:rPr lang="en-US" dirty="0"/>
              <a:t>Define the material type before configuring any other settings.</a:t>
            </a:r>
          </a:p>
          <a:p>
            <a:r>
              <a:rPr lang="en-US" dirty="0"/>
              <a:t>Describe your material with sufficient detail for accurate generation.</a:t>
            </a:r>
          </a:p>
          <a:p>
            <a:r>
              <a:rPr lang="en-US" dirty="0"/>
              <a:t>Include audience level and content scope in your configuration.</a:t>
            </a:r>
          </a:p>
          <a:p>
            <a:r>
              <a:rPr lang="en-US" dirty="0"/>
              <a:t>Initiate generation after all parameters are set.</a:t>
            </a:r>
          </a:p>
          <a:p>
            <a:r>
              <a:rPr lang="en-US" dirty="0"/>
              <a:t>PreseMaker produces the custom artifact based on defined inputs.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Module Index?</a:t>
            </a:r>
          </a:p>
        </p:txBody>
      </p:sp>
      <p:sp>
        <p:nvSpPr>
          <p:cNvPr id="3" name="Content Placeholder 2"/>
          <p:cNvSpPr>
            <a:spLocks noGrp="1"/>
          </p:cNvSpPr>
          <p:nvPr>
            <p:ph idx="1"/>
          </p:nvPr>
        </p:nvSpPr>
        <p:spPr/>
        <p:txBody>
          <a:bodyPr/>
          <a:lstStyle/>
          <a:p>
            <a:r>
              <a:rPr lang="en-US" dirty="0"/>
              <a:t>The Module Index is PreseMaker's centralized artifact repository.</a:t>
            </a:r>
          </a:p>
          <a:p>
            <a:r>
              <a:rPr lang="en-US" dirty="0"/>
              <a:t>It catalogs every artifact generated during a module session.</a:t>
            </a:r>
          </a:p>
          <a:p>
            <a:r>
              <a:rPr lang="en-US" dirty="0"/>
              <a:t>Both interactive activities and custom materials are stored here.</a:t>
            </a:r>
          </a:p>
          <a:p>
            <a:r>
              <a:rPr lang="en-US" dirty="0"/>
              <a:t>Each artifact is labeled by type for quick identification.</a:t>
            </a:r>
          </a:p>
          <a:p>
            <a:r>
              <a:rPr lang="en-US" dirty="0"/>
              <a:t>The Module Index ensures all content is traceable and accessible.</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Navigating and Using the Module Index</a:t>
            </a:r>
          </a:p>
        </p:txBody>
      </p:sp>
      <p:sp>
        <p:nvSpPr>
          <p:cNvPr id="3" name="Content Placeholder 2"/>
          <p:cNvSpPr>
            <a:spLocks noGrp="1"/>
          </p:cNvSpPr>
          <p:nvPr>
            <p:ph idx="1"/>
          </p:nvPr>
        </p:nvSpPr>
        <p:spPr/>
        <p:txBody>
          <a:bodyPr/>
          <a:lstStyle/>
          <a:p>
            <a:r>
              <a:rPr lang="en-US" dirty="0"/>
              <a:t>Reaching the Module Index takes only a few steps from anywhere.</a:t>
            </a:r>
          </a:p>
          <a:p>
            <a:r>
              <a:rPr lang="en-US" dirty="0"/>
              <a:t>Artifacts are listed and labeled clearly within the index view.</a:t>
            </a:r>
          </a:p>
          <a:p>
            <a:r>
              <a:rPr lang="en-US" dirty="0"/>
              <a:t>Open any artifact directly from the index for immediate review.</a:t>
            </a:r>
          </a:p>
          <a:p>
            <a:r>
              <a:rPr lang="en-US" dirty="0"/>
              <a:t>Basic organizational tools help keep content structured.</a:t>
            </a:r>
          </a:p>
          <a:p>
            <a:r>
              <a:rPr lang="en-US" dirty="0"/>
              <a:t>Verify all expected artifacts appear after each generation step.</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Key Takeaways</a:t>
            </a:r>
          </a:p>
        </p:txBody>
      </p:sp>
      <p:sp>
        <p:nvSpPr>
          <p:cNvPr id="3" name="Content Placeholder 2"/>
          <p:cNvSpPr>
            <a:spLocks noGrp="1"/>
          </p:cNvSpPr>
          <p:nvPr>
            <p:ph idx="1"/>
          </p:nvPr>
        </p:nvSpPr>
        <p:spPr/>
        <p:txBody>
          <a:bodyPr/>
          <a:lstStyle/>
          <a:p>
            <a:r>
              <a:rPr lang="en-US" dirty="0"/>
              <a:t>Interactive templates transform passive content into participatory experiences.</a:t>
            </a:r>
          </a:p>
          <a:p>
            <a:r>
              <a:rPr lang="en-US" dirty="0"/>
              <a:t>Matching and flashcards build vocabulary and concept recognition skills.</a:t>
            </a:r>
          </a:p>
          <a:p>
            <a:r>
              <a:rPr lang="en-US" dirty="0"/>
              <a:t>Cloze passages and crosswords reinforce contextual and word-level recall.</a:t>
            </a:r>
          </a:p>
          <a:p>
            <a:r>
              <a:rPr lang="en-US" dirty="0"/>
              <a:t>The custom materials generator enables tailored, instructor-defined content.</a:t>
            </a:r>
          </a:p>
          <a:p>
            <a:r>
              <a:rPr lang="en-US" dirty="0"/>
              <a:t>The Module Index centralizes all artifacts for easy access and verification.</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13</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Generating Interactive Activities and Custom Materials</dc:title>
  <dc:creator>PreseMaker</dc:creator>
  <cp:lastModifiedBy>PreseMaker</cp:lastModifiedBy>
  <dcterms:created xsi:type="dcterms:W3CDTF">2026-07-09T13:26:07Z</dcterms:created>
  <dcterms:modified xsi:type="dcterms:W3CDTF">2026-07-09T13:26:07Z</dcterms:modified>
</cp:coreProperties>
</file>