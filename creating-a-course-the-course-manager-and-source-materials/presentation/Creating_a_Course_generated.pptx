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theme/theme1.xml" ContentType="application/vnd.openxmlformats-officedocument.theme+xml"/>
  <Override PartName="/ppt/theme/theme2.xml" ContentType="application/vnd.openxmlformats-officedocument.them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p="http://schemas.openxmlformats.org/presentationml/2006/main" xmlns:a="http://schemas.openxmlformats.org/drawingml/2006/main" xmlns:r="http://schemas.openxmlformats.org/officeDocument/2006/relationships" saveSubsetFonts="1">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Lst>
  <p:sldSz cx="12192000" cy="6858000" type="custom"/>
  <p:notesSz cx="6858000" cy="9144000"/>
</p:presentation>
</file>

<file path=ppt/presProps.xml><?xml version="1.0" encoding="utf-8"?>
<p:presentationPr xmlns:a="http://schemas.openxmlformats.org/drawingml/2006/main" xmlns:p="http://schemas.openxmlformats.org/presentationml/2006/main">
  <p:extLst>
    <p:ext uri="{E76CE94A-603C-4142-B9EB-6D1370010A27}">
      <p14:discardImageEditData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p:normalViewPr>
    <p:restoredLeft sz="15611"/>
    <p:restoredTop sz="94610"/>
  </p:normalViewPr>
  <p:slideViewPr>
    <p:cSldViewPr snapToGrid="0">
      <p:cViewPr varScale="1">
        <p:scale>
          <a:sx n="64" d="100"/>
          <a:sy n="64" d="100"/>
        </p:scale>
        <p:origin x="-1236" y="-114"/>
      </p:cViewPr>
      <p:guideLst/>
    </p:cSldViewPr>
  </p:slideViewPr>
  <p:notesTextViewPr>
    <p:cViewPr>
      <p:scale>
        <a:sx n="1" d="1"/>
        <a:sy n="1" d="1"/>
      </p:scale>
      <p:origin x="0" y="0"/>
    </p:cViewPr>
  </p:notesText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3600450"/>
            <a:ext cx="5486400" cy="3600450"/>
          </a:xfrm>
          <a:prstGeom prst="rect">
            <a:avLst/>
          </a:prstGeom>
        </p:spPr>
        <p:txBody>
          <a:bodyPr/>
          <a:lstStyle/>
          <a:p>
            <a:r>
              <a:t/>
            </a:r>
          </a:p>
        </p:txBody>
      </p:sp>
    </p:spTree>
  </p:cSld>
  <p:clrMap bg1="lt1" tx1="dk1" bg2="lt2" tx2="dk2" accent1="accent1" accent2="accent2" accent3="accent3" accent4="accent4" accent5="accent5" accent6="accent6" hlink="hlink" folHlink="folHlink"/>
  <p:txStyles>
    <p:bodyStyle/>
    <p:otherStyle/>
  </p:txStyles>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Welcome to this course on creating courses in PreseMaker. We'll cover the Course Manager interface, the course creation process, AI-generated course options, accepted source material types, and how primary versus secondary sources influence AI generation. By the end, you'll have a clear understanding of the full course creation workflow from start to finish.</a:t>
            </a:r>
          </a:p>
        </p:txBody>
      </p:sp>
    </p:spTree>
  </p:cSld>
  <p:clrMapOvr>
    <a:masterClrMapping/>
  </p:clrMapOvr>
</p:notes>
</file>

<file path=ppt/notesSlides/notesSlide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The Course Manager is the first thing users see when they open PreseMaker. It functions as a dashboard, giving authors a clear overview of all courses they have created or are working on. From here, users can open, edit, or delete existing courses, and initiate the creation of new ones. Think of it as the command center for everything course-related in PreseMaker.</a:t>
            </a:r>
          </a:p>
        </p:txBody>
      </p:sp>
    </p:spTree>
  </p:cSld>
  <p:clrMapOvr>
    <a:masterClrMapping/>
  </p:clrMapOvr>
</p:notes>
</file>

<file path=ppt/notesSlides/notesSlide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The Course Manager interface is designed with usability in mind. Users can see all of their courses at a glance, making it easy to locate and resume work. The layout supports quick navigation to actions like creating a new course or opening an existing one. Importantly, the Course Manager doesn't just serve as a starting point — it remains relevant throughout the entire course development lifecycle, acting as the thread that connects all phases of authoring.</a:t>
            </a:r>
          </a:p>
        </p:txBody>
      </p:sp>
    </p:spTree>
  </p:cSld>
  <p:clrMapOvr>
    <a:masterClrMapping/>
  </p:clrMapOvr>
</p:notes>
</file>

<file path=ppt/notesSlides/notesSlide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Creating a new course always begins in the Course Manager. Users initiate the process by selecting the 'Create New Course' option within the interface. This triggers the initial setup flow, which collects essential information before the course is fully created. Regardless of the path chosen — manual or AI-generated — every course in PreseMaker traces its origin back to this starting point.</a:t>
            </a:r>
          </a:p>
        </p:txBody>
      </p:sp>
    </p:spTree>
  </p:cSld>
  <p:clrMapOvr>
    <a:masterClrMapping/>
  </p:clrMapOvr>
</p:notes>
</file>

<file path=ppt/notesSlides/notesSlide5.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When creating a new course, authors are presented with two distinct paths. The first is an empty course, which provides a blank slate with no pre-filled content — ideal for authors who want full manual control over the structure and material. The second is AI generation, which allows PreseMaker to automatically build an initial course structure based on inputs you provide. The right choice depends on your timeline, available content, and preference for automation versus manual authoring.</a:t>
            </a:r>
          </a:p>
        </p:txBody>
      </p:sp>
    </p:spTree>
  </p:cSld>
  <p:clrMapOvr>
    <a:masterClrMapping/>
  </p:clrMapOvr>
</p:notes>
</file>

<file path=ppt/notesSlides/notesSlide6.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Choosing the empty course option gives the author complete creative control. There is no AI involvement in generating the initial structure — every element must be added manually. This path is well-suited for experienced authors who already know exactly what their course should contain and prefer to build it piece by piece. It is also a good choice when the content does not lend itself easily to AI interpretation, or when a very specific structure is required.</a:t>
            </a:r>
          </a:p>
        </p:txBody>
      </p:sp>
    </p:spTree>
  </p:cSld>
  <p:clrMapOvr>
    <a:masterClrMapping/>
  </p:clrMapOvr>
</p:notes>
</file>

<file path=ppt/notesSlides/notesSlide7.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The AI-generation option is a powerful feature that allows PreseMaker to do much of the initial heavy lifting. When you choose this path, the AI analyzes the inputs you provide — such as source materials and descriptions — and constructs an initial course structure complete with topics and content. This option is particularly valuable when you are working under time constraints, when you have substantial source material to draw from, or when you want a strong first draft to refine. The process begins by selecting the AI generation option during new course creation in the Course Manager.</a:t>
            </a:r>
          </a:p>
        </p:txBody>
      </p:sp>
    </p:spTree>
  </p:cSld>
  <p:clrMapOvr>
    <a:masterClrMapping/>
  </p:clrMapOvr>
</p:notes>
</file>

<file path=ppt/notesSlides/notesSlide8.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AI-generated course creation is the process by which PreseMaker's AI automatically assembles a course structure rather than requiring the author to build it manually. The quality and specificity of the inputs you provide are critical — the more relevant and well-organized your source material, the better the AI can interpret and structure the course. This option is best chosen when your timeline is tight, when you have a large volume of existing content to process, or when you want a structured draft to serve as a starting point for further refinement.</a:t>
            </a:r>
          </a:p>
        </p:txBody>
      </p:sp>
    </p:spTree>
  </p:cSld>
  <p:clrMapOvr>
    <a:masterClrMapping/>
  </p:clrMapOvr>
</p:notes>
</file>

<file path=ppt/notesSlides/notesSlide9.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PreseMaker supports a diverse range of source material formats to accommodate different authoring workflows. PowerPoint files allow existing slide decks to be repurposed as course foundations. Written descriptions let authors provide plain-text summaries that the AI uses to generate content. Uploaded documents such as Word files or PDFs are parsed for their text content. Web page URLs allow PreseMaker to pull content directly from online resources. Pasted text offers maximum flexibility by letting users copy content from any source. Finally, YouTube video URLs are processed through transcript extraction, turning spoken content into course material.</a:t>
            </a:r>
          </a:p>
        </p:txBody>
      </p:sp>
    </p:spTree>
  </p:cSld>
  <p:clrMapOvr>
    <a:masterClrMapping/>
  </p:clrMapOvr>
</p:notes>
</file>

<file path=ppt/notesSlides/notesSlide10.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These four source types represent the most common formats authors work with. PowerPoint files are especially useful when an organization already has training decks that need to be converted into PreseMaker courses. Uploaded documents — Word or PDF — are processed so their written content informs the course structure. Pasted text is the most flexible option, allowing content from emails, notes, articles, or any other written source to be used directly. Written descriptions are unique in that they do not require existing material; instead, they prompt the AI to generate content based on a topic overview provided by the author.</a:t>
            </a:r>
          </a:p>
        </p:txBody>
      </p:sp>
    </p:spTree>
  </p:cSld>
  <p:clrMapOvr>
    <a:masterClrMapping/>
  </p:clrMapOvr>
</p:notes>
</file>

<file path=ppt/notesSlides/notesSlide1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Web pages and YouTube videos extend PreseMaker's ability to capture content from digital sources beyond traditional documents. When a web page URL is provided, PreseMaker retrieves and processes the content available on that page. For YouTube videos, PreseMaker does not analyze the video itself but instead extracts the video's transcript, which is then used to generate course content. This makes it possible to quickly convert webinars, tutorial videos, or recorded presentations into structured course material.</a:t>
            </a:r>
          </a:p>
        </p:txBody>
      </p:sp>
    </p:spTree>
  </p:cSld>
  <p:clrMapOvr>
    <a:masterClrMapping/>
  </p:clrMapOvr>
</p:notes>
</file>

<file path=ppt/notesSlides/notesSlide1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PreseMaker distinguishes between primary and secondary source materials to help the AI prioritize and structure content effectively. The primary source is the central input — it establishes the direction, scope, and primary structure of the course. Secondary sources enrich the course by providing additional context, supporting details, or complementary perspectives. Understanding this distinction is important because the AI treats these two categories differently during the generation process.</a:t>
            </a:r>
          </a:p>
        </p:txBody>
      </p:sp>
    </p:spTree>
  </p:cSld>
  <p:clrMapOvr>
    <a:masterClrMapping/>
  </p:clrMapOvr>
</p:notes>
</file>

<file path=ppt/notesSlides/notesSlide1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The designation of a source as primary or secondary has a direct impact on how the AI generates the course. The primary source is given priority — it shapes the course outline, topic sequence, and core content. Secondary sources are consulted to fill in details, add supporting information, or provide alternative perspectives, but they do not override the structure established by the primary source. Selecting the right primary source is therefore a strategic authoring decision: it should be the most comprehensive, authoritative, or well-organized piece of content you have. Any accepted source material type — PowerPoint, document, web page, pasted text, or YouTube transcript — can be designated as either primary or secondary.</a:t>
            </a:r>
          </a:p>
        </p:txBody>
      </p:sp>
    </p:spTree>
  </p:cSld>
  <p:clrMapOvr>
    <a:masterClrMapping/>
  </p:clrMapOvr>
</p:notes>
</file>

<file path=ppt/notesSlides/notesSlide1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Choosing your primary source wisely is one of the most important decisions in the AI-generated course creation process. Because the primary source determines the overall direction and coherence of the course, it should be the piece of content that most thoroughly covers the subject matter. Ideally, it should be well-structured, authoritative, and closely aligned with your intended learning outcomes. Poorly organized or incomplete primary source material will result in a less coherent AI-generated course, whereas a strong primary source gives the AI a solid foundation to work from.</a:t>
            </a:r>
          </a:p>
        </p:txBody>
      </p:sp>
    </p:spTree>
  </p:cSld>
  <p:clrMapOvr>
    <a:masterClrMapping/>
  </p:clrMapOvr>
</p:notes>
</file>

<file path=ppt/notesSlides/notesSlide15.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To summarize: the Course Manager is your starting point in PreseMaker — it provides access to all courses and initiates the creation workflow. When creating a new course, you can choose between building manually with an empty course or leveraging AI to generate an initial structure. AI generation is powered by the inputs you supply, and PreseMaker supports six source material types: PowerPoint files, written descriptions, documents, web pages, pasted text, and YouTube transcripts. Finally, understanding the distinction between primary and secondary sources is key to getting the best results from AI generation — the primary source sets the course direction, while secondary sources enrich the content. With these fundamentals in place, you are well-equipped to begin building effective courses in PreseMaker.</a:t>
            </a: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xmlns:r="http://schemas.openxmlformats.org/officeDocument/2006/relationships" type="tx"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11277600" cy="1143000"/>
          </a:xfrm>
        </p:spPr>
        <p:txBody>
          <a:bodyPr/>
          <a:lstStyle/>
          <a:p>
            <a:r>
              <a:t>Click to edit title</a:t>
            </a:r>
          </a:p>
        </p:txBody>
      </p:sp>
      <p:sp>
        <p:nvSpPr>
          <p:cNvPr id="3" name="Content Placeholder 2"/>
          <p:cNvSpPr>
            <a:spLocks noGrp="1"/>
          </p:cNvSpPr>
          <p:nvPr>
            <p:ph idx="1"/>
          </p:nvPr>
        </p:nvSpPr>
        <p:spPr>
          <a:xfrm>
            <a:off x="457200" y="1600200"/>
            <a:ext cx="11277600" cy="4525963"/>
          </a:xfrm>
        </p:spPr>
        <p:txBody>
          <a:bodyPr/>
          <a:lstStyle/>
          <a:p>
            <a:r>
              <a:t>Click to add content</a:t>
            </a: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defRPr>
      </a:lvl2pPr>
    </p:bodyStyle>
    <p:otherStyle>
      <a:defPPr>
        <a:defRPr lang="en-US"/>
      </a:defPPr>
      <a:lvl1pPr marL="0" algn="l" defTabSz="914400" rtl="0" eaLnBrk="1" latinLnBrk="0" hangingPunct="1">
        <a:defRPr sz="1800" kern="1200">
          <a:solidFill>
            <a:schemeClr val="tx1"/>
          </a:solidFill>
          <a:latin typeface="+mn-lt"/>
        </a:defRPr>
      </a:lvl1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a Course: The Course Manager and Source Materials</a:t>
            </a:r>
          </a:p>
        </p:txBody>
      </p:sp>
      <p:sp>
        <p:nvSpPr>
          <p:cNvPr id="3" name="Content Placeholder 2"/>
          <p:cNvSpPr>
            <a:spLocks noGrp="1"/>
          </p:cNvSpPr>
          <p:nvPr>
            <p:ph idx="1"/>
          </p:nvPr>
        </p:nvSpPr>
        <p:spPr/>
        <p:txBody>
          <a:bodyPr/>
          <a:lstStyle/>
          <a:p>
            <a:pPr algn="ctr">
              <a:buNone/>
            </a:pPr>
            <a:r>
              <a:rPr lang="en-US" dirty="0"/>
              <a:t>A professional guide to navigating PreseMaker's course creation workflow and source material options.</a:t>
            </a: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the Course Manager?</a:t>
            </a:r>
          </a:p>
        </p:txBody>
      </p:sp>
      <p:sp>
        <p:nvSpPr>
          <p:cNvPr id="3" name="Content Placeholder 2"/>
          <p:cNvSpPr>
            <a:spLocks noGrp="1"/>
          </p:cNvSpPr>
          <p:nvPr>
            <p:ph idx="1"/>
          </p:nvPr>
        </p:nvSpPr>
        <p:spPr/>
        <p:txBody>
          <a:bodyPr/>
          <a:lstStyle/>
          <a:p>
            <a:r>
              <a:rPr lang="en-US" dirty="0"/>
              <a:t>The Course Manager is PreseMaker's home screen.</a:t>
            </a:r>
          </a:p>
          <a:p>
            <a:r>
              <a:rPr lang="en-US" dirty="0"/>
              <a:t>It serves as the central hub for all course-related activities.</a:t>
            </a:r>
          </a:p>
          <a:p>
            <a:r>
              <a:rPr lang="en-US" dirty="0"/>
              <a:t>All existing courses are visible and accessible here.</a:t>
            </a:r>
          </a:p>
          <a:p>
            <a:r>
              <a:rPr lang="en-US" dirty="0"/>
              <a:t>Key actions are available directly from this interface.</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Navigating the Course Manager Interface</a:t>
            </a:r>
          </a:p>
        </p:txBody>
      </p:sp>
      <p:sp>
        <p:nvSpPr>
          <p:cNvPr id="3" name="Content Placeholder 2"/>
          <p:cNvSpPr>
            <a:spLocks noGrp="1"/>
          </p:cNvSpPr>
          <p:nvPr>
            <p:ph idx="1"/>
          </p:nvPr>
        </p:nvSpPr>
        <p:spPr/>
        <p:txBody>
          <a:bodyPr/>
          <a:lstStyle/>
          <a:p>
            <a:r>
              <a:rPr lang="en-US" dirty="0"/>
              <a:t>The interface provides a clear overview of all courses.</a:t>
            </a:r>
          </a:p>
          <a:p>
            <a:r>
              <a:rPr lang="en-US" dirty="0"/>
              <a:t>Quick access to key actions is built into the layout.</a:t>
            </a:r>
          </a:p>
          <a:p>
            <a:r>
              <a:rPr lang="en-US" dirty="0"/>
              <a:t>The Course Manager connects all phases of course development.</a:t>
            </a:r>
          </a:p>
          <a:p>
            <a:r>
              <a:rPr lang="en-US" dirty="0"/>
              <a:t>It remains a consistent reference point throughout the workflow.</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Starting a New Course in PreseMaker</a:t>
            </a:r>
          </a:p>
        </p:txBody>
      </p:sp>
      <p:sp>
        <p:nvSpPr>
          <p:cNvPr id="3" name="Content Placeholder 2"/>
          <p:cNvSpPr>
            <a:spLocks noGrp="1"/>
          </p:cNvSpPr>
          <p:nvPr>
            <p:ph idx="1"/>
          </p:nvPr>
        </p:nvSpPr>
        <p:spPr/>
        <p:txBody>
          <a:bodyPr/>
          <a:lstStyle/>
          <a:p>
            <a:r>
              <a:rPr lang="en-US" dirty="0"/>
              <a:t>Every new course originates from the Course Manager.</a:t>
            </a:r>
          </a:p>
          <a:p>
            <a:r>
              <a:rPr lang="en-US" dirty="0"/>
              <a:t>Select the option to create a new course to begin.</a:t>
            </a:r>
          </a:p>
          <a:p>
            <a:r>
              <a:rPr lang="en-US" dirty="0"/>
              <a:t>The Course Manager is the essential first step in creation.</a:t>
            </a:r>
          </a:p>
          <a:p>
            <a:r>
              <a:rPr lang="en-US" dirty="0"/>
              <a:t>Initial setup steps are required before the course is initialized.</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Two Paths for Course Creation</a:t>
            </a:r>
          </a:p>
        </p:txBody>
      </p:sp>
      <p:sp>
        <p:nvSpPr>
          <p:cNvPr id="3" name="Content Placeholder 2"/>
          <p:cNvSpPr>
            <a:spLocks noGrp="1"/>
          </p:cNvSpPr>
          <p:nvPr>
            <p:ph idx="1"/>
          </p:nvPr>
        </p:nvSpPr>
        <p:spPr/>
        <p:txBody>
          <a:bodyPr/>
          <a:lstStyle/>
          <a:p>
            <a:r>
              <a:rPr lang="en-US" dirty="0"/>
              <a:t>PreseMaker offers two primary course creation options.</a:t>
            </a:r>
          </a:p>
          <a:p>
            <a:r>
              <a:rPr lang="en-US" dirty="0"/>
              <a:t>Option one: start with an empty, blank course.</a:t>
            </a:r>
          </a:p>
          <a:p>
            <a:r>
              <a:rPr lang="en-US" dirty="0"/>
              <a:t>Option two: use AI to automatically generate a course.</a:t>
            </a:r>
          </a:p>
          <a:p>
            <a:r>
              <a:rPr lang="en-US" dirty="0"/>
              <a:t>Each path suits different authoring needs and timelines.</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Starting with an Empty Course</a:t>
            </a:r>
          </a:p>
        </p:txBody>
      </p:sp>
      <p:sp>
        <p:nvSpPr>
          <p:cNvPr id="3" name="Content Placeholder 2"/>
          <p:cNvSpPr>
            <a:spLocks noGrp="1"/>
          </p:cNvSpPr>
          <p:nvPr>
            <p:ph idx="1"/>
          </p:nvPr>
        </p:nvSpPr>
        <p:spPr/>
        <p:txBody>
          <a:bodyPr/>
          <a:lstStyle/>
          <a:p>
            <a:r>
              <a:rPr lang="en-US" dirty="0"/>
              <a:t>An empty course contains no pre-filled content.</a:t>
            </a:r>
          </a:p>
          <a:p>
            <a:r>
              <a:rPr lang="en-US" dirty="0"/>
              <a:t>Authors have full manual control over structure and material.</a:t>
            </a:r>
          </a:p>
          <a:p>
            <a:r>
              <a:rPr lang="en-US" dirty="0"/>
              <a:t>Best suited for authors with a clear content plan.</a:t>
            </a:r>
          </a:p>
          <a:p>
            <a:r>
              <a:rPr lang="en-US" dirty="0"/>
              <a:t>All slides, topics, and content are built from scratch.</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AI to Generate a New Course</a:t>
            </a:r>
          </a:p>
        </p:txBody>
      </p:sp>
      <p:sp>
        <p:nvSpPr>
          <p:cNvPr id="3" name="Content Placeholder 2"/>
          <p:cNvSpPr>
            <a:spLocks noGrp="1"/>
          </p:cNvSpPr>
          <p:nvPr>
            <p:ph idx="1"/>
          </p:nvPr>
        </p:nvSpPr>
        <p:spPr/>
        <p:txBody>
          <a:bodyPr/>
          <a:lstStyle/>
          <a:p>
            <a:r>
              <a:rPr lang="en-US" dirty="0"/>
              <a:t>AI generation automatically builds an initial course structure.</a:t>
            </a:r>
          </a:p>
          <a:p>
            <a:r>
              <a:rPr lang="en-US" dirty="0"/>
              <a:t>Content is generated based on the inputs you supply.</a:t>
            </a:r>
          </a:p>
          <a:p>
            <a:r>
              <a:rPr lang="en-US" dirty="0"/>
              <a:t>Ideal when you need a fast starting structure.</a:t>
            </a:r>
          </a:p>
          <a:p>
            <a:r>
              <a:rPr lang="en-US" dirty="0"/>
              <a:t>AI generation begins from the Course Manager's creation flow.</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Understanding AI-Generated Course Creation</a:t>
            </a:r>
          </a:p>
        </p:txBody>
      </p:sp>
      <p:sp>
        <p:nvSpPr>
          <p:cNvPr id="3" name="Content Placeholder 2"/>
          <p:cNvSpPr>
            <a:spLocks noGrp="1"/>
          </p:cNvSpPr>
          <p:nvPr>
            <p:ph idx="1"/>
          </p:nvPr>
        </p:nvSpPr>
        <p:spPr/>
        <p:txBody>
          <a:bodyPr/>
          <a:lstStyle/>
          <a:p>
            <a:r>
              <a:rPr lang="en-US" dirty="0"/>
              <a:t>AI builds course structure based on your provided inputs.</a:t>
            </a:r>
          </a:p>
          <a:p>
            <a:r>
              <a:rPr lang="en-US" dirty="0"/>
              <a:t>Choose AI generation for speed and complex source material.</a:t>
            </a:r>
          </a:p>
          <a:p>
            <a:r>
              <a:rPr lang="en-US" dirty="0"/>
              <a:t>Your inputs directly influence the quality of AI output.</a:t>
            </a:r>
          </a:p>
          <a:p>
            <a:r>
              <a:rPr lang="en-US" dirty="0"/>
              <a:t>AI generation reduces manual effort in early course development.</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Accepted Source Material Types</a:t>
            </a:r>
          </a:p>
        </p:txBody>
      </p:sp>
      <p:sp>
        <p:nvSpPr>
          <p:cNvPr id="3" name="Content Placeholder 2"/>
          <p:cNvSpPr>
            <a:spLocks noGrp="1"/>
          </p:cNvSpPr>
          <p:nvPr>
            <p:ph idx="1"/>
          </p:nvPr>
        </p:nvSpPr>
        <p:spPr/>
        <p:txBody>
          <a:bodyPr/>
          <a:lstStyle/>
          <a:p>
            <a:r>
              <a:rPr lang="en-US" dirty="0"/>
              <a:t>PowerPoint files (.pptx) can serve as source material.</a:t>
            </a:r>
          </a:p>
          <a:p>
            <a:r>
              <a:rPr lang="en-US" dirty="0"/>
              <a:t>Written descriptions guide AI content creation from scratch.</a:t>
            </a:r>
          </a:p>
          <a:p>
            <a:r>
              <a:rPr lang="en-US" dirty="0"/>
              <a:t>Word documents and PDFs are supported for upload.</a:t>
            </a:r>
          </a:p>
          <a:p>
            <a:r>
              <a:rPr lang="en-US" dirty="0"/>
              <a:t>Web page URLs and pasted text are also accepted.</a:t>
            </a:r>
          </a:p>
          <a:p>
            <a:r>
              <a:rPr lang="en-US" dirty="0"/>
              <a:t>YouTube video URLs are used via transcript extraction.</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Source Materials: PowerPoint, Documents, and Text</a:t>
            </a:r>
          </a:p>
        </p:txBody>
      </p:sp>
      <p:sp>
        <p:nvSpPr>
          <p:cNvPr id="3" name="Content Placeholder 2"/>
          <p:cNvSpPr>
            <a:spLocks noGrp="1"/>
          </p:cNvSpPr>
          <p:nvPr>
            <p:ph idx="1"/>
          </p:nvPr>
        </p:nvSpPr>
        <p:spPr/>
        <p:txBody>
          <a:bodyPr/>
          <a:lstStyle/>
          <a:p>
            <a:r>
              <a:rPr lang="en-US" dirty="0"/>
              <a:t>PowerPoint files provide existing slide structures as foundations.</a:t>
            </a:r>
          </a:p>
          <a:p>
            <a:r>
              <a:rPr lang="en-US" dirty="0"/>
              <a:t>Uploaded documents are parsed to extract usable text content.</a:t>
            </a:r>
          </a:p>
          <a:p>
            <a:r>
              <a:rPr lang="en-US" dirty="0"/>
              <a:t>Pasted text allows content from any source to be used.</a:t>
            </a:r>
          </a:p>
          <a:p>
            <a:r>
              <a:rPr lang="en-US" dirty="0"/>
              <a:t>Written descriptions enable AI to generate content from scratch.</a:t>
            </a: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Source Materials: Web Pages and YouTube</a:t>
            </a:r>
          </a:p>
        </p:txBody>
      </p:sp>
      <p:sp>
        <p:nvSpPr>
          <p:cNvPr id="3" name="Content Placeholder 2"/>
          <p:cNvSpPr>
            <a:spLocks noGrp="1"/>
          </p:cNvSpPr>
          <p:nvPr>
            <p:ph idx="1"/>
          </p:nvPr>
        </p:nvSpPr>
        <p:spPr/>
        <p:txBody>
          <a:bodyPr/>
          <a:lstStyle/>
          <a:p>
            <a:r>
              <a:rPr lang="en-US" dirty="0"/>
              <a:t>Web page URLs allow PreseMaker to pull online content.</a:t>
            </a:r>
          </a:p>
          <a:p>
            <a:r>
              <a:rPr lang="en-US" dirty="0"/>
              <a:t>Content is extracted directly from the linked page.</a:t>
            </a:r>
          </a:p>
          <a:p>
            <a:r>
              <a:rPr lang="en-US" dirty="0"/>
              <a:t>YouTube URLs are supported through transcript extraction.</a:t>
            </a:r>
          </a:p>
          <a:p>
            <a:r>
              <a:rPr lang="en-US" dirty="0"/>
              <a:t>Video transcripts are converted into usable course content.</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Primary vs. Secondary Sources: Definitions</a:t>
            </a:r>
          </a:p>
        </p:txBody>
      </p:sp>
      <p:sp>
        <p:nvSpPr>
          <p:cNvPr id="3" name="Content Placeholder 2"/>
          <p:cNvSpPr>
            <a:spLocks noGrp="1"/>
          </p:cNvSpPr>
          <p:nvPr>
            <p:ph idx="1"/>
          </p:nvPr>
        </p:nvSpPr>
        <p:spPr/>
        <p:txBody>
          <a:bodyPr/>
          <a:lstStyle/>
          <a:p>
            <a:r>
              <a:rPr lang="en-US" dirty="0"/>
              <a:t>A primary source is the main driver of AI course generation.</a:t>
            </a:r>
          </a:p>
          <a:p>
            <a:r>
              <a:rPr lang="en-US" dirty="0"/>
              <a:t>Secondary sources are supplemental materials that add context.</a:t>
            </a:r>
          </a:p>
          <a:p>
            <a:r>
              <a:rPr lang="en-US" dirty="0"/>
              <a:t>Only one source should be designated as primary.</a:t>
            </a:r>
          </a:p>
          <a:p>
            <a:r>
              <a:rPr lang="en-US" dirty="0"/>
              <a:t>Multiple secondary sources can be provided alongside the primary.</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Source Designation Affects AI Generation</a:t>
            </a:r>
          </a:p>
        </p:txBody>
      </p:sp>
      <p:sp>
        <p:nvSpPr>
          <p:cNvPr id="3" name="Content Placeholder 2"/>
          <p:cNvSpPr>
            <a:spLocks noGrp="1"/>
          </p:cNvSpPr>
          <p:nvPr>
            <p:ph idx="1"/>
          </p:nvPr>
        </p:nvSpPr>
        <p:spPr/>
        <p:txBody>
          <a:bodyPr/>
          <a:lstStyle/>
          <a:p>
            <a:r>
              <a:rPr lang="en-US" dirty="0"/>
              <a:t>The primary source determines the course's direction and structure.</a:t>
            </a:r>
          </a:p>
          <a:p>
            <a:r>
              <a:rPr lang="en-US" dirty="0"/>
              <a:t>Secondary sources add depth without overriding the primary.</a:t>
            </a:r>
          </a:p>
          <a:p>
            <a:r>
              <a:rPr lang="en-US" dirty="0"/>
              <a:t>Choosing the right primary source is a strategic decision.</a:t>
            </a:r>
          </a:p>
          <a:p>
            <a:r>
              <a:rPr lang="en-US" dirty="0"/>
              <a:t>All accepted file types can serve as primary or secondary.</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Choosing the Right Primary Source</a:t>
            </a:r>
          </a:p>
        </p:txBody>
      </p:sp>
      <p:sp>
        <p:nvSpPr>
          <p:cNvPr id="3" name="Content Placeholder 2"/>
          <p:cNvSpPr>
            <a:spLocks noGrp="1"/>
          </p:cNvSpPr>
          <p:nvPr>
            <p:ph idx="1"/>
          </p:nvPr>
        </p:nvSpPr>
        <p:spPr/>
        <p:txBody>
          <a:bodyPr/>
          <a:lstStyle/>
          <a:p>
            <a:r>
              <a:rPr lang="en-US" dirty="0"/>
              <a:t>Select the most comprehensive and authoritative content available.</a:t>
            </a:r>
          </a:p>
          <a:p>
            <a:r>
              <a:rPr lang="en-US" dirty="0"/>
              <a:t>The primary source shapes the entire course's coherence.</a:t>
            </a:r>
          </a:p>
          <a:p>
            <a:r>
              <a:rPr lang="en-US" dirty="0"/>
              <a:t>Well-organized source material produces better AI output.</a:t>
            </a:r>
          </a:p>
          <a:p>
            <a:r>
              <a:rPr lang="en-US" dirty="0"/>
              <a:t>Align your primary source with the course's learning goals.</a:t>
            </a:r>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 Course Manager and Source Materials</a:t>
            </a:r>
          </a:p>
        </p:txBody>
      </p:sp>
      <p:sp>
        <p:nvSpPr>
          <p:cNvPr id="3" name="Content Placeholder 2"/>
          <p:cNvSpPr>
            <a:spLocks noGrp="1"/>
          </p:cNvSpPr>
          <p:nvPr>
            <p:ph idx="1"/>
          </p:nvPr>
        </p:nvSpPr>
        <p:spPr/>
        <p:txBody>
          <a:bodyPr/>
          <a:lstStyle/>
          <a:p>
            <a:r>
              <a:rPr lang="en-US" dirty="0"/>
              <a:t>The Course Manager is the central hub for all course activity.</a:t>
            </a:r>
          </a:p>
          <a:p>
            <a:r>
              <a:rPr lang="en-US" dirty="0"/>
              <a:t>New courses can be created manually or via AI generation.</a:t>
            </a:r>
          </a:p>
          <a:p>
            <a:r>
              <a:rPr lang="en-US" dirty="0"/>
              <a:t>AI generation relies on the quality of your provided inputs.</a:t>
            </a:r>
          </a:p>
          <a:p>
            <a:r>
              <a:rPr lang="en-US" dirty="0"/>
              <a:t>PreseMaker supports six source material types for course creation.</a:t>
            </a:r>
          </a:p>
          <a:p>
            <a:r>
              <a:rPr lang="en-US" dirty="0"/>
              <a:t>Primary sources drive structure; secondary sources add context.</a:t>
            </a:r>
          </a:p>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9D18E"/>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67000"/>
              </a:schemeClr>
            </a:gs>
            <a:gs pos="100000">
              <a:schemeClr val="phClr">
                <a:shade val="67000"/>
              </a:schemeClr>
            </a:gs>
          </a:gsLst>
          <a:lin ang="5400000" scaled="0"/>
        </a:gradFill>
        <a:gradFill rotWithShape="1">
          <a:gsLst>
            <a:gs pos="0">
              <a:schemeClr val="phClr">
                <a:tint val="50000"/>
              </a:schemeClr>
            </a:gs>
            <a:gs pos="100000">
              <a:schemeClr val="phClr">
                <a:shade val="50000"/>
              </a:schemeClr>
            </a:gs>
          </a:gsLst>
          <a:lin ang="5400000" scaled="0"/>
        </a:gradFill>
      </a:fillStyleLst>
      <a:lnStyleLst>
        <a:ln w="6350" cap="flat" cmpd="sng">
          <a:solidFill>
            <a:schemeClr val="phClr"/>
          </a:solidFill>
          <a:prstDash val="solid"/>
        </a:ln>
        <a:ln w="12700" cap="flat" cmpd="sng">
          <a:solidFill>
            <a:schemeClr val="phClr"/>
          </a:solidFill>
          <a:prstDash val="solid"/>
        </a:ln>
        <a:ln w="19050" cap="flat" cmpd="sng">
          <a:solidFill>
            <a:schemeClr val="phClr"/>
          </a:solidFill>
          <a:prstDash val="solid"/>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chemeClr>
        </a:solidFill>
        <a:gradFill rotWithShape="1">
          <a:gsLst>
            <a:gs pos="0">
              <a:schemeClr val="phClr">
                <a:tint val="93000"/>
              </a:schemeClr>
            </a:gs>
            <a:gs pos="100000">
              <a:schemeClr val="phClr">
                <a:shade val="63000"/>
              </a:schemeClr>
            </a:gs>
          </a:gsLst>
          <a:lin ang="5400000" scaled="0"/>
        </a:gradFill>
      </a:bgFillStyleLst>
    </a:fmtScheme>
  </a:themeElements>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9D18E"/>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67000"/>
              </a:schemeClr>
            </a:gs>
            <a:gs pos="100000">
              <a:schemeClr val="phClr">
                <a:shade val="67000"/>
              </a:schemeClr>
            </a:gs>
          </a:gsLst>
          <a:lin ang="5400000" scaled="0"/>
        </a:gradFill>
        <a:gradFill rotWithShape="1">
          <a:gsLst>
            <a:gs pos="0">
              <a:schemeClr val="phClr">
                <a:tint val="50000"/>
              </a:schemeClr>
            </a:gs>
            <a:gs pos="100000">
              <a:schemeClr val="phClr">
                <a:shade val="50000"/>
              </a:schemeClr>
            </a:gs>
          </a:gsLst>
          <a:lin ang="5400000" scaled="0"/>
        </a:gradFill>
      </a:fillStyleLst>
      <a:lnStyleLst>
        <a:ln w="6350" cap="flat" cmpd="sng">
          <a:solidFill>
            <a:schemeClr val="phClr"/>
          </a:solidFill>
          <a:prstDash val="solid"/>
        </a:ln>
        <a:ln w="12700" cap="flat" cmpd="sng">
          <a:solidFill>
            <a:schemeClr val="phClr"/>
          </a:solidFill>
          <a:prstDash val="solid"/>
        </a:ln>
        <a:ln w="19050" cap="flat" cmpd="sng">
          <a:solidFill>
            <a:schemeClr val="phClr"/>
          </a:solidFill>
          <a:prstDash val="solid"/>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chemeClr>
        </a:solidFill>
        <a:gradFill rotWithShape="1">
          <a:gsLst>
            <a:gs pos="0">
              <a:schemeClr val="phClr">
                <a:tint val="93000"/>
              </a:schemeClr>
            </a:gs>
            <a:gs pos="100000">
              <a:schemeClr val="phClr">
                <a:shade val="63000"/>
              </a:schemeClr>
            </a:gs>
          </a:gsLst>
          <a:lin ang="5400000" scaled="0"/>
        </a:gradFill>
      </a:bgFillStyleLst>
    </a:fmtScheme>
  </a:themeElements>
</a:theme>
</file>

<file path=docProps/app.xml><?xml version="1.0" encoding="utf-8"?>
<Properties xmlns="http://schemas.openxmlformats.org/officeDocument/2006/extended-properties" xmlns:vt="http://schemas.openxmlformats.org/officeDocument/2006/docPropsVTypes">
  <Application>PreseMaker</Application>
  <Slides>15</Slides>
  <ScaleCrop>false</ScaleCrop>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Creating a Course: The Course Manager and Source Materials</dc:title>
  <dc:creator>PreseMaker</dc:creator>
  <cp:lastModifiedBy>PreseMaker</cp:lastModifiedBy>
  <dcterms:created xsi:type="dcterms:W3CDTF">2026-07-09T13:18:00Z</dcterms:created>
  <dcterms:modified xsi:type="dcterms:W3CDTF">2026-07-09T13:18:00Z</dcterms:modified>
</cp:coreProperties>
</file>