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session on PreseMaker's Standards Coverage view and the cognitive-depth check feature. By the end of this presentation, you will be able to read the coverage layout, interpret tiered status indicators, understand the distinction between assessment and practice, and identify cognitive-depth gaps in your course design.</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Standards Coverage view is a newer feature in PreseMaker, so you will notice it is labeled 'System in Development.' Despite that label, it provides meaningful, actionable information. At the top of the view, a headline summarizes the overall state of standards coverage for your entire course. Below that, each standard you have mapped to the course appears as its own row, presenting several data points. Critically, the Status field uses a tiered classification system rather than a numeric score or percentage bar, which we will explore in depth shortly.</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Each row in the coverage view is structured to give you several key pieces of information simultaneously. You will see the standard's code and full statement, the Bloom's cognitive level assigned to that standard, and separate counts for how many assignments, quiz items, and activities are aligned to it. This granular breakdown lets you see exactly how coverage is distributed across content types. The headline at the top summarizes how well all mapped standards are covered across the course. A precise distinction is also made between what counts as assessment and what counts as practice, which directly influences the status shown for each standard.</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tiered status system is the core classification mechanism in the Standards Coverage view. 'Not Aligned' means the standard exists in your course map but has absolutely no content mapped to it. 'Not Addressed' means the standard has been mapped to the course, but no specific assignment, quiz item, or activity is aligned to it. 'Practiced Only' means the only aligned materials are activities — no assignments or quiz items are present. 'Assessed' means at least one aligned assignment or aligned quiz item exists, which is the highest tier. The transitions between tiers follow a strict hierarchy based on the type and presence of aligned materials.</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distinction between assessment and practice is essential for correctly interpreting status tiers. Assignments and quiz items belong to the assessment category. Activities belong to the practice category. A standard moves to 'Assessed' as soon as at least one assignment or quiz item is aligned — no further steps are required. It shows 'Practiced Only' when the sole aligned material is an activity. Two common misstatements to avoid: do not say that activities count as assessment, and do not say that a standard is assessed simply because it has a high volume of activities. The headline coverage summary directly reflects how many standards are actually assessed, making this distinction critical to reporting.</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Understanding how tier transitions work helps you take targeted action. The system evaluates what types of content are aligned to a standard and applies a strict hierarchy. If nothing exists, the standard is Not Aligned. If the standard is in the course map but lacks any aligned content, it is Not Addressed. Once activities are aligned, it becomes Practiced Only. Adding even one assignment or quiz item elevates it to Assessed. There is no partial scoring — the presence or absence of specific content types determines the tier definitively.</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Bloom's level column in the coverage view enables a qualitative comparison that goes beyond simply counting aligned materials. PreseMaker displays the Bloom's level assigned to each standard, allowing you to compare what the standard demands cognitively against what your aligned learning outcomes deliver. Critically, the cognitive-depth check is performed against learning outcomes — not against assignments, quiz items, or activities. If the standard's Bloom's level exceeds the highest Bloom's level of its aligned learning outcomes, a cognitive-depth gap is flagged. This is a distinct check from the status tier system.</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cognitive-depth check applies a straightforward rule: if the standard's Bloom's level exceeds the highest Bloom's level of its aligned learning outcomes, a gap is flagged. Learning outcomes serve as the sole reference point for this check — not the materials themselves. This is an important and frequently misunderstood distinction. Even if you have many high-level quiz items aligned to a standard, the cognitive-depth check will still flag a gap if none of the learning outcomes reach the required Bloom's level. The check is deliberately scoped to learning outcomes only.</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Standards Coverage view displays each mapped standard as a row, making it straightforward to scan for cognitive-depth flags. A flag appears when a standard's Bloom's level exceeds the highest Bloom's level of its aligned learning outcomes. It is important to understand that a standard's status tier and its cognitive-depth flag are independent indicators. A standard could be 'Assessed' — meaning it has an aligned assignment or quiz item — and still carry a cognitive-depth gap if the learning outcomes don't reach the required Bloom's level. Together, these two indicators provide a complete picture of coverage quality.</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Closing a cognitive-depth gap requires action at the learning outcome level. You must either rewrite existing learning outcomes to reflect the Bloom's level the standard demands, or add new learning outcomes that meet that level and align them to the standard. A common misread is attempting to fix a depth gap by adding more assessments or activities. Because the cognitive-depth check evaluates learning outcomes exclusively, adding materials does not resolve the gap. The fix must happen at the outcome level. Ensure the revised or new outcomes are explicitly aligned to the standard so the system can register the change.</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Several common misreads can lead to incorrect course design decisions. First, activities belong to the practice category and do not elevate a standard to 'Assessed' status — only assignments or quiz items do. Second, cognitive-depth gaps cannot be resolved by adding assessments or activities; only revising or adding learning outcomes will close them. Third, the status tier and the cognitive-depth flag are separate indicators — a standard can be Assessed and still have a depth gap. Fourth, 'Not Addressed' and 'Not Aligned' are different: 'Not Aligned' means nothing is mapped, while 'Not Addressed' means the standard is mapped but lacks aligned content. Finally, the coverage headline reflects how many standards are actually assessed, not merely aligned.</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the Standards Coverage view in PreseMaker provides a structured, row-by-row analysis of how well each mapped standard is addressed in your course. The four status tiers — Not Aligned, Not Addressed, Practiced Only, and Assessed — are determined strictly by the type and presence of aligned materials. The distinction between assessment (assignments and quiz items) and practice (activities) is essential for interpreting status correctly. Separately, the cognitive-depth check compares the standard's Bloom's level to the Bloom's levels of aligned learning outcomes — not materials. Depth gaps are closed by revising or adding learning outcomes, not by adding more content. Use both the status tier and the depth flag together to fully evaluate each standard's coverage.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Standards Coverage and Checking Cognitive Depth</a:t>
            </a:r>
          </a:p>
        </p:txBody>
      </p:sp>
      <p:sp>
        <p:nvSpPr>
          <p:cNvPr id="3" name="Content Placeholder 2"/>
          <p:cNvSpPr>
            <a:spLocks noGrp="1"/>
          </p:cNvSpPr>
          <p:nvPr>
            <p:ph idx="1"/>
          </p:nvPr>
        </p:nvSpPr>
        <p:spPr/>
        <p:txBody>
          <a:bodyPr/>
          <a:lstStyle/>
          <a:p>
            <a:pPr algn="ctr">
              <a:buNone/>
            </a:pPr>
            <a:r>
              <a:rPr lang="en-US" dirty="0"/>
              <a:t>A guide to interpreting PreseMaker's Standards Coverage view and cognitive-depth analysis for course designers.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the Standards Coverage View</a:t>
            </a:r>
          </a:p>
        </p:txBody>
      </p:sp>
      <p:sp>
        <p:nvSpPr>
          <p:cNvPr id="3" name="Content Placeholder 2"/>
          <p:cNvSpPr>
            <a:spLocks noGrp="1"/>
          </p:cNvSpPr>
          <p:nvPr>
            <p:ph idx="1"/>
          </p:nvPr>
        </p:nvSpPr>
        <p:spPr/>
        <p:txBody>
          <a:bodyPr/>
          <a:lstStyle/>
          <a:p>
            <a:r>
              <a:rPr lang="en-US" dirty="0"/>
              <a:t>Shows how well course materials cover mapped standards.</a:t>
            </a:r>
          </a:p>
          <a:p>
            <a:r>
              <a:rPr lang="en-US" dirty="0"/>
              <a:t>Currently labeled 'System in Development' in PreseMaker.</a:t>
            </a:r>
          </a:p>
          <a:p>
            <a:r>
              <a:rPr lang="en-US" dirty="0"/>
              <a:t>A headline summary appears at the top of the view.</a:t>
            </a:r>
          </a:p>
          <a:p>
            <a:r>
              <a:rPr lang="en-US" dirty="0"/>
              <a:t>Each mapped standard displays as its own data row.</a:t>
            </a:r>
          </a:p>
          <a:p>
            <a:r>
              <a:rPr lang="en-US" dirty="0"/>
              <a:t>The Status field provides tiered classification, not a score.</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the Coverage View Layout</a:t>
            </a:r>
          </a:p>
        </p:txBody>
      </p:sp>
      <p:sp>
        <p:nvSpPr>
          <p:cNvPr id="3" name="Content Placeholder 2"/>
          <p:cNvSpPr>
            <a:spLocks noGrp="1"/>
          </p:cNvSpPr>
          <p:nvPr>
            <p:ph idx="1"/>
          </p:nvPr>
        </p:nvSpPr>
        <p:spPr/>
        <p:txBody>
          <a:bodyPr/>
          <a:lstStyle/>
          <a:p>
            <a:r>
              <a:rPr lang="en-US" dirty="0"/>
              <a:t>Each row shows standard code, statement, and Bloom's level.</a:t>
            </a:r>
          </a:p>
          <a:p>
            <a:r>
              <a:rPr lang="en-US" dirty="0"/>
              <a:t>Separate counts display assignments, quiz items, and activities.</a:t>
            </a:r>
          </a:p>
          <a:p>
            <a:r>
              <a:rPr lang="en-US" dirty="0"/>
              <a:t>The headline summarizes overall coverage at a glance.</a:t>
            </a:r>
          </a:p>
          <a:p>
            <a:r>
              <a:rPr lang="en-US" dirty="0"/>
              <a:t>Status indicators reflect the tier of coverage per standard.</a:t>
            </a:r>
          </a:p>
          <a:p>
            <a:r>
              <a:rPr lang="en-US" dirty="0"/>
              <a:t>Coverage distinguishes assessment content from practice content.</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Four Status Tiers Explained</a:t>
            </a:r>
          </a:p>
        </p:txBody>
      </p:sp>
      <p:sp>
        <p:nvSpPr>
          <p:cNvPr id="3" name="Content Placeholder 2"/>
          <p:cNvSpPr>
            <a:spLocks noGrp="1"/>
          </p:cNvSpPr>
          <p:nvPr>
            <p:ph idx="1"/>
          </p:nvPr>
        </p:nvSpPr>
        <p:spPr/>
        <p:txBody>
          <a:bodyPr/>
          <a:lstStyle/>
          <a:p>
            <a:r>
              <a:rPr lang="en-US" dirty="0"/>
              <a:t>Every mapped standard receives one of four status tiers.</a:t>
            </a:r>
          </a:p>
          <a:p>
            <a:r>
              <a:rPr lang="en-US" dirty="0"/>
              <a:t>Not Aligned: nothing in the course is mapped to it.</a:t>
            </a:r>
          </a:p>
          <a:p>
            <a:r>
              <a:rPr lang="en-US" dirty="0"/>
              <a:t>Not Addressed: mapped but no content is aligned to it.</a:t>
            </a:r>
          </a:p>
          <a:p>
            <a:r>
              <a:rPr lang="en-US" dirty="0"/>
              <a:t>Practiced Only: only activities are aligned — no assessments.</a:t>
            </a:r>
          </a:p>
          <a:p>
            <a:r>
              <a:rPr lang="en-US" dirty="0"/>
              <a:t>Assessed: at least one assignment or quiz item is aligned.</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Assessment vs. Practice: Key Distinctions</a:t>
            </a:r>
          </a:p>
        </p:txBody>
      </p:sp>
      <p:sp>
        <p:nvSpPr>
          <p:cNvPr id="3" name="Content Placeholder 2"/>
          <p:cNvSpPr>
            <a:spLocks noGrp="1"/>
          </p:cNvSpPr>
          <p:nvPr>
            <p:ph idx="1"/>
          </p:nvPr>
        </p:nvSpPr>
        <p:spPr/>
        <p:txBody>
          <a:bodyPr/>
          <a:lstStyle/>
          <a:p>
            <a:r>
              <a:rPr lang="en-US" dirty="0"/>
              <a:t>Assessment includes assignments and aligned quiz items only.</a:t>
            </a:r>
          </a:p>
          <a:p>
            <a:r>
              <a:rPr lang="en-US" dirty="0"/>
              <a:t>Practice includes activities only — a separate category.</a:t>
            </a:r>
          </a:p>
          <a:p>
            <a:r>
              <a:rPr lang="en-US" dirty="0"/>
              <a:t>Assessed status requires just one assignment or quiz item.</a:t>
            </a:r>
          </a:p>
          <a:p>
            <a:r>
              <a:rPr lang="en-US" dirty="0"/>
              <a:t>Practiced Only applies when only activities are aligned.</a:t>
            </a:r>
          </a:p>
          <a:p>
            <a:r>
              <a:rPr lang="en-US" dirty="0"/>
              <a:t>The headline reflects how many standards are truly assessed.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Status Tiers Are Determined</a:t>
            </a:r>
          </a:p>
        </p:txBody>
      </p:sp>
      <p:sp>
        <p:nvSpPr>
          <p:cNvPr id="3" name="Content Placeholder 2"/>
          <p:cNvSpPr>
            <a:spLocks noGrp="1"/>
          </p:cNvSpPr>
          <p:nvPr>
            <p:ph idx="1"/>
          </p:nvPr>
        </p:nvSpPr>
        <p:spPr/>
        <p:txBody>
          <a:bodyPr/>
          <a:lstStyle/>
          <a:p>
            <a:r>
              <a:rPr lang="en-US" dirty="0"/>
              <a:t>Tier assignment follows the type of aligned materials present.</a:t>
            </a:r>
          </a:p>
          <a:p>
            <a:r>
              <a:rPr lang="en-US" dirty="0"/>
              <a:t>No aligned content at all results in Not Aligned status.</a:t>
            </a:r>
          </a:p>
          <a:p>
            <a:r>
              <a:rPr lang="en-US" dirty="0"/>
              <a:t>Mapping without alignment produces Not Addressed status.</a:t>
            </a:r>
          </a:p>
          <a:p>
            <a:r>
              <a:rPr lang="en-US" dirty="0"/>
              <a:t>Activities alone yield Practiced Only — assessments push to Assessed.</a:t>
            </a:r>
          </a:p>
          <a:p>
            <a:r>
              <a:rPr lang="en-US" dirty="0"/>
              <a:t>Each tier transition is governed by a strict content hierarchy.</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Bloom's Level Column and Cognitive Depth</a:t>
            </a:r>
          </a:p>
        </p:txBody>
      </p:sp>
      <p:sp>
        <p:nvSpPr>
          <p:cNvPr id="3" name="Content Placeholder 2"/>
          <p:cNvSpPr>
            <a:spLocks noGrp="1"/>
          </p:cNvSpPr>
          <p:nvPr>
            <p:ph idx="1"/>
          </p:nvPr>
        </p:nvSpPr>
        <p:spPr/>
        <p:txBody>
          <a:bodyPr/>
          <a:lstStyle/>
          <a:p>
            <a:r>
              <a:rPr lang="en-US" dirty="0"/>
              <a:t>Each standard row displays its assigned Bloom's cognitive level.</a:t>
            </a:r>
          </a:p>
          <a:p>
            <a:r>
              <a:rPr lang="en-US" dirty="0"/>
              <a:t>Aligned content counts appear alongside the Bloom's level.</a:t>
            </a:r>
          </a:p>
          <a:p>
            <a:r>
              <a:rPr lang="en-US" dirty="0"/>
              <a:t>Bloom's level enables comparison between standard and outcomes.</a:t>
            </a:r>
          </a:p>
          <a:p>
            <a:r>
              <a:rPr lang="en-US" dirty="0"/>
              <a:t>A gap exists when outcomes fall below the standard's level.</a:t>
            </a:r>
          </a:p>
          <a:p>
            <a:r>
              <a:rPr lang="en-US" dirty="0"/>
              <a:t>The cognitive-depth check focuses on learning outcomes, not materials.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the Cognitive-Depth Check Works</a:t>
            </a:r>
          </a:p>
        </p:txBody>
      </p:sp>
      <p:sp>
        <p:nvSpPr>
          <p:cNvPr id="3" name="Content Placeholder 2"/>
          <p:cNvSpPr>
            <a:spLocks noGrp="1"/>
          </p:cNvSpPr>
          <p:nvPr>
            <p:ph idx="1"/>
          </p:nvPr>
        </p:nvSpPr>
        <p:spPr/>
        <p:txBody>
          <a:bodyPr/>
          <a:lstStyle/>
          <a:p>
            <a:r>
              <a:rPr lang="en-US" dirty="0"/>
              <a:t>PreseMaker compares standard Bloom's level to learning outcomes.</a:t>
            </a:r>
          </a:p>
          <a:p>
            <a:r>
              <a:rPr lang="en-US" dirty="0"/>
              <a:t>Learning outcomes are the sole reference point for this check.</a:t>
            </a:r>
          </a:p>
          <a:p>
            <a:r>
              <a:rPr lang="en-US" dirty="0"/>
              <a:t>A gap is flagged when outcomes fall below the standard's level.</a:t>
            </a:r>
          </a:p>
          <a:p>
            <a:r>
              <a:rPr lang="en-US" dirty="0"/>
              <a:t>Assignments, quiz items, and activities are not evaluated here.</a:t>
            </a:r>
          </a:p>
          <a:p>
            <a:r>
              <a:rPr lang="en-US" dirty="0"/>
              <a:t>The check is deliberately scoped to outcomes only.</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Identifying Cognitive-Depth Gaps in the Coverage View</a:t>
            </a:r>
          </a:p>
        </p:txBody>
      </p:sp>
      <p:sp>
        <p:nvSpPr>
          <p:cNvPr id="3" name="Content Placeholder 2"/>
          <p:cNvSpPr>
            <a:spLocks noGrp="1"/>
          </p:cNvSpPr>
          <p:nvPr>
            <p:ph idx="1"/>
          </p:nvPr>
        </p:nvSpPr>
        <p:spPr/>
        <p:txBody>
          <a:bodyPr/>
          <a:lstStyle/>
          <a:p>
            <a:r>
              <a:rPr lang="en-US" dirty="0"/>
              <a:t>Each standard row shows whether a depth gap is present.</a:t>
            </a:r>
          </a:p>
          <a:p>
            <a:r>
              <a:rPr lang="en-US" dirty="0"/>
              <a:t>A flag appears when outcomes don't meet the standard's level.</a:t>
            </a:r>
          </a:p>
          <a:p>
            <a:r>
              <a:rPr lang="en-US" dirty="0"/>
              <a:t>Depth gap and status tier are two separate indicators.</a:t>
            </a:r>
          </a:p>
          <a:p>
            <a:r>
              <a:rPr lang="en-US" dirty="0"/>
              <a:t>Both indicators together describe coverage completeness and depth.</a:t>
            </a:r>
          </a:p>
          <a:p>
            <a:r>
              <a:rPr lang="en-US" dirty="0"/>
              <a:t>Locate flagged standards quickly by scanning the coverage rows.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Cognitive-Depth Gaps</a:t>
            </a:r>
          </a:p>
        </p:txBody>
      </p:sp>
      <p:sp>
        <p:nvSpPr>
          <p:cNvPr id="3" name="Content Placeholder 2"/>
          <p:cNvSpPr>
            <a:spLocks noGrp="1"/>
          </p:cNvSpPr>
          <p:nvPr>
            <p:ph idx="1"/>
          </p:nvPr>
        </p:nvSpPr>
        <p:spPr/>
        <p:txBody>
          <a:bodyPr/>
          <a:lstStyle/>
          <a:p>
            <a:r>
              <a:rPr lang="en-US" dirty="0"/>
              <a:t>Close gaps by rewriting or adding higher-level learning outcomes.</a:t>
            </a:r>
          </a:p>
          <a:p>
            <a:r>
              <a:rPr lang="en-US" dirty="0"/>
              <a:t>Outcomes must match or exceed the standard's Bloom's level.</a:t>
            </a:r>
          </a:p>
          <a:p>
            <a:r>
              <a:rPr lang="en-US" dirty="0"/>
              <a:t>Adding assessments or activities alone does not close depth gaps.</a:t>
            </a:r>
          </a:p>
          <a:p>
            <a:r>
              <a:rPr lang="en-US" dirty="0"/>
              <a:t>Revise outcome language to reflect the demanded cognitive level.</a:t>
            </a:r>
          </a:p>
          <a:p>
            <a:r>
              <a:rPr lang="en-US" dirty="0"/>
              <a:t>New outcomes must be aligned to the standard in question.</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Avoiding Common Misreads in Standards Coverage</a:t>
            </a:r>
          </a:p>
        </p:txBody>
      </p:sp>
      <p:sp>
        <p:nvSpPr>
          <p:cNvPr id="3" name="Content Placeholder 2"/>
          <p:cNvSpPr>
            <a:spLocks noGrp="1"/>
          </p:cNvSpPr>
          <p:nvPr>
            <p:ph idx="1"/>
          </p:nvPr>
        </p:nvSpPr>
        <p:spPr/>
        <p:txBody>
          <a:bodyPr/>
          <a:lstStyle/>
          <a:p>
            <a:r>
              <a:rPr lang="en-US" dirty="0"/>
              <a:t>Activities alone do not make a standard 'Assessed.'</a:t>
            </a:r>
          </a:p>
          <a:p>
            <a:r>
              <a:rPr lang="en-US" dirty="0"/>
              <a:t>Depth gaps are not fixed by adding more assessments.</a:t>
            </a:r>
          </a:p>
          <a:p>
            <a:r>
              <a:rPr lang="en-US" dirty="0"/>
              <a:t>Status tiers and depth flags are independent — read both.</a:t>
            </a:r>
          </a:p>
          <a:p>
            <a:r>
              <a:rPr lang="en-US" dirty="0"/>
              <a:t>Not Addressed differs from Not Aligned — mapping matters.</a:t>
            </a:r>
          </a:p>
          <a:p>
            <a:r>
              <a:rPr lang="en-US" dirty="0"/>
              <a:t>The headline reflects assessed standards, not just aligned ones.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The Standards Coverage view shows how well mapped standards are covered.</a:t>
            </a:r>
          </a:p>
          <a:p>
            <a:r>
              <a:rPr lang="en-US" dirty="0"/>
              <a:t>Four status tiers classify each standard's level of coverage.</a:t>
            </a:r>
          </a:p>
          <a:p>
            <a:r>
              <a:rPr lang="en-US" dirty="0"/>
              <a:t>Assessment means assignments or quiz items; practice means activities.</a:t>
            </a:r>
          </a:p>
          <a:p>
            <a:r>
              <a:rPr lang="en-US" dirty="0"/>
              <a:t>Cognitive-depth checks compare standard Bloom's level to outcomes.</a:t>
            </a:r>
          </a:p>
          <a:p>
            <a:r>
              <a:rPr lang="en-US" dirty="0"/>
              <a:t>Fix depth gaps by revising outcomes — not by adding materials.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12</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Reading Standards Coverage and Checking Cognitive Depth</dc:title>
  <dc:creator>PreseMaker</dc:creator>
  <cp:lastModifiedBy>PreseMaker</cp:lastModifiedBy>
  <dcterms:created xsi:type="dcterms:W3CDTF">2026-07-09T13:34:25Z</dcterms:created>
  <dcterms:modified xsi:type="dcterms:W3CDTF">2026-07-09T13:34:25Z</dcterms:modified>
</cp:coreProperties>
</file>