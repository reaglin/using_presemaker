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participants and frame the session. This presentation covers how course-level and module-level outcomes differ, how to connect them using an alignment map, and how to audit cognitive depth across both levels. By the end, learners will be able to write, distinguish, and map outcomes with confidence and precision.</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Course-level outcomes are overarching statements describing what a learner should know, be able to do, or value upon completing the entire course. Because they represent the final destination of learning, they are intentionally written at higher levels of cognitive complexity — such as Bloom's Analyze, Evaluate, or Create levels. Every major course decision — content selection, instructional strategy, and assessment design — should trace back to these outcomes. They are not granular task descriptions; they are the big goals that give the entire course its purpose and coherence.</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Module-level student learning outcomes (SLOs) describe what a learner should know, understand, or do by the end of a single module or unit of instruction. The key distinguishing feature of module-level writing is specificity — the language must be precise and narrowly scoped. A common error is confusing what learners will do during a module (activities) with what they will have learned as a result (outcomes). Module outcomes are not isolated; they function as incremental building blocks that collectively lead learners toward the broader course-level outcomes. The cognitive level of module outcomes should match where learners are in the course sequence.</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These two levels of outcomes serve distinct purposes and exist at different scopes. Course outcomes communicate the overall value of the course — what a learner can do after completing everything. Module outcomes guide day-to-day instructional decisions within a single unit. A frequent confusion is placing overly broad statements at the module level or overly narrow statements at the course level. To assign an outcome to the correct level, ask: Does this describe the final destination of learning or one step along the way? Module outcomes are hierarchically subordinate, meaning each one should explicitly contribute to at least one course outcome.</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alignment map is a visual and analytical tool that makes the relationships between module-level outcomes and course-level outcomes explicit and reviewable. It encodes directional relationships, showing how scoped module outcomes feed upward into cumulative course outcomes. Beyond visualization, the map functions as a structural integrity check — it helps designers determine whether the course is built soundly. When Bloom's levels are included in the map, it becomes a cognitive audit document. Ultimately, the alignment map is a representation of course coherence: the quality that makes a course feel intentional and unified rather than a loosely assembled collection of modules.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Before mapping begins, learners must recognize that course outcomes and module outcomes exist at different scopes and serve different purposes. The alignment map — structured as a visual or tabular tool — makes these relationships explicit and reviewable. Not every module outcome maps neatly to a course outcome, so concrete strategies are needed: look for shared verbs, shared content domains, and shared cognitive expectations. A defensible link is not just thematic — the cognitive level of the module outcome must be appropriate relative to the course outcome it supports. Clear documentation of why each link was made makes the course design transparent and easier to revise or defend during review.</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An alignment map reviewed systematically reveals gaps in coverage that might otherwise go unnoticed. Types of gaps include: course outcomes with no module-level support, module outcomes that connect to no course outcome, and clusters of modules that avoid an entire cognitive level. These gaps are symptoms of deeper coherence problems — they indicate the course may not function as an integrated learning experience. Before resolving a gap, designers should diagnose its root cause: Is a module missing? Is an outcome poorly written? Is there a misalignment between intended and documented goals? Accurate diagnosis prevents surface-level fixes that leave the underlying problem intact. After revisions, always re-audit the map to verify every gap is closed and no new gaps were introduced.</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Course-level outcomes often express ambitious intellectual goals — evaluating evidence, synthesizing competing theories, or creating original solutions. If module outcomes only require students to recall or identify basic facts, learners will not be cognitively prepared to meet the course-level expectations. Bloom's Taxonomy — from Remember and Understand at lower levels to Analyze, Evaluate, and Create at higher levels — provides a shared language for auditing this alignment. The audit process begins by identifying the highest cognitive level demanded by each course outcome, then mapping each module outcome to its Bloom's level. A cognitive gap appears when the highest level represented across a module's outcomes falls significantly below what the corresponding course outcome requires. Including Bloom's levels in the alignment map transforms it from a simple linking tool into a comprehensive cognitive audit document.</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cognitive gaps are identified, designers have several resolution options. Existing module outcomes can be revised by replacing lower-level verbs (list, identify) with higher-level verbs (analyze, evaluate, design). New module outcomes can be added to explicitly address the cognitive levels currently missing. Modules can also be restructured so that cognitive demand builds progressively across the course — earlier modules address foundational levels and later modules address higher-order thinking. After any revision, the alignment map should be updated to reflect the new cognitive structure, ensuring it remains an accurate and useful audit document.</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Course-level outcomes define the final destination of learning and drive all major design decisions. Module-level outcomes describe the incremental steps learners take within a single unit and must be specific, appropriately scoped, and carefully distinguished from learning activities. The alignment map connects both levels visually and analytically, serving as both a design tool and a structural integrity check. Gaps in the map — whether thematic or cognitive — are symptoms of deeper coherence problems and must be diagnosed accurately before resolution. Bloom's Taxonomy is the shared framework for auditing and documenting cognitive depth across all outcome levels. Together, these practices produce courses that are intentional, progressive, and coherent.</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Outcomes vs. Module Outcomes and the Alignment Map</a:t>
            </a:r>
          </a:p>
        </p:txBody>
      </p:sp>
      <p:sp>
        <p:nvSpPr>
          <p:cNvPr id="3" name="Content Placeholder 2"/>
          <p:cNvSpPr>
            <a:spLocks noGrp="1"/>
          </p:cNvSpPr>
          <p:nvPr>
            <p:ph idx="1"/>
          </p:nvPr>
        </p:nvSpPr>
        <p:spPr/>
        <p:txBody>
          <a:bodyPr/>
          <a:lstStyle/>
          <a:p>
            <a:pPr algn="ctr">
              <a:buNone/>
            </a:pPr>
            <a:r>
              <a:rPr lang="en-US" dirty="0"/>
              <a:t>A structured guide to designing coherent, aligned courses through intentional outcome mapping.</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Course-Level Outcomes?</a:t>
            </a:r>
          </a:p>
        </p:txBody>
      </p:sp>
      <p:sp>
        <p:nvSpPr>
          <p:cNvPr id="3" name="Content Placeholder 2"/>
          <p:cNvSpPr>
            <a:spLocks noGrp="1"/>
          </p:cNvSpPr>
          <p:nvPr>
            <p:ph idx="1"/>
          </p:nvPr>
        </p:nvSpPr>
        <p:spPr/>
        <p:txBody>
          <a:bodyPr/>
          <a:lstStyle/>
          <a:p>
            <a:r>
              <a:rPr lang="en-US" dirty="0"/>
              <a:t>Course-level outcomes define what learners know or do by course completion.</a:t>
            </a:r>
          </a:p>
          <a:p>
            <a:r>
              <a:rPr lang="en-US" dirty="0"/>
              <a:t>They reflect cumulative learning across the entire course.</a:t>
            </a:r>
          </a:p>
          <a:p>
            <a:r>
              <a:rPr lang="en-US" dirty="0"/>
              <a:t>They target higher-order cognitive skills like analysis and evaluation.</a:t>
            </a:r>
          </a:p>
          <a:p>
            <a:r>
              <a:rPr lang="en-US" dirty="0"/>
              <a:t>They serve as the primary design driver for all course decisions.</a:t>
            </a:r>
          </a:p>
          <a:p>
            <a:r>
              <a:rPr lang="en-US" dirty="0"/>
              <a:t>They differ fundamentally from module or lesson-level targets.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Module-Level Outcomes?</a:t>
            </a:r>
          </a:p>
        </p:txBody>
      </p:sp>
      <p:sp>
        <p:nvSpPr>
          <p:cNvPr id="3" name="Content Placeholder 2"/>
          <p:cNvSpPr>
            <a:spLocks noGrp="1"/>
          </p:cNvSpPr>
          <p:nvPr>
            <p:ph idx="1"/>
          </p:nvPr>
        </p:nvSpPr>
        <p:spPr/>
        <p:txBody>
          <a:bodyPr/>
          <a:lstStyle/>
          <a:p>
            <a:r>
              <a:rPr lang="en-US" dirty="0"/>
              <a:t>Module outcomes define what learners achieve within one unit.</a:t>
            </a:r>
          </a:p>
          <a:p>
            <a:r>
              <a:rPr lang="en-US" dirty="0"/>
              <a:t>They are narrower and more specific than course outcomes.</a:t>
            </a:r>
          </a:p>
          <a:p>
            <a:r>
              <a:rPr lang="en-US" dirty="0"/>
              <a:t>Scope must fit the module's content and time constraints.</a:t>
            </a:r>
          </a:p>
          <a:p>
            <a:r>
              <a:rPr lang="en-US" dirty="0"/>
              <a:t>They reflect the cognitive level appropriate for that stage.</a:t>
            </a:r>
          </a:p>
          <a:p>
            <a:r>
              <a:rPr lang="en-US" dirty="0"/>
              <a:t>They are building blocks toward course-level achievement.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Outcomes vs. Module Outcomes: Key Differences</a:t>
            </a:r>
          </a:p>
        </p:txBody>
      </p:sp>
      <p:sp>
        <p:nvSpPr>
          <p:cNvPr id="3" name="Content Placeholder 2"/>
          <p:cNvSpPr>
            <a:spLocks noGrp="1"/>
          </p:cNvSpPr>
          <p:nvPr>
            <p:ph idx="1"/>
          </p:nvPr>
        </p:nvSpPr>
        <p:spPr/>
        <p:txBody>
          <a:bodyPr/>
          <a:lstStyle/>
          <a:p>
            <a:r>
              <a:rPr lang="en-US" dirty="0"/>
              <a:t>Course outcomes are broad; module outcomes are specific.</a:t>
            </a:r>
          </a:p>
          <a:p>
            <a:r>
              <a:rPr lang="en-US" dirty="0"/>
              <a:t>Course outcomes signal overall course value to stakeholders.</a:t>
            </a:r>
          </a:p>
          <a:p>
            <a:r>
              <a:rPr lang="en-US" dirty="0"/>
              <a:t>Module outcomes guide daily instructional and assessment decisions.</a:t>
            </a:r>
          </a:p>
          <a:p>
            <a:r>
              <a:rPr lang="en-US" dirty="0"/>
              <a:t>Course outcomes target higher Bloom's levels than module outcomes.</a:t>
            </a:r>
          </a:p>
          <a:p>
            <a:r>
              <a:rPr lang="en-US" dirty="0"/>
              <a:t>Module outcomes are subordinate and feed into course outcomes.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Alignment Map?</a:t>
            </a:r>
          </a:p>
        </p:txBody>
      </p:sp>
      <p:sp>
        <p:nvSpPr>
          <p:cNvPr id="3" name="Content Placeholder 2"/>
          <p:cNvSpPr>
            <a:spLocks noGrp="1"/>
          </p:cNvSpPr>
          <p:nvPr>
            <p:ph idx="1"/>
          </p:nvPr>
        </p:nvSpPr>
        <p:spPr/>
        <p:txBody>
          <a:bodyPr/>
          <a:lstStyle/>
          <a:p>
            <a:r>
              <a:rPr lang="en-US" dirty="0"/>
              <a:t>An alignment map displays connections between outcome levels visually.</a:t>
            </a:r>
          </a:p>
          <a:p>
            <a:r>
              <a:rPr lang="en-US" dirty="0"/>
              <a:t>It links module outcomes to their corresponding course outcomes.</a:t>
            </a:r>
          </a:p>
          <a:p>
            <a:r>
              <a:rPr lang="en-US" dirty="0"/>
              <a:t>It reveals whether all course outcomes have adequate module support.</a:t>
            </a:r>
          </a:p>
          <a:p>
            <a:r>
              <a:rPr lang="en-US" dirty="0"/>
              <a:t>It reflects cognitive depth decisions across the full course.</a:t>
            </a:r>
          </a:p>
          <a:p>
            <a:r>
              <a:rPr lang="en-US" dirty="0"/>
              <a:t>It represents overall course coherence in one readable structure.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Linking Module Outcomes to Course Outcomes</a:t>
            </a:r>
          </a:p>
        </p:txBody>
      </p:sp>
      <p:sp>
        <p:nvSpPr>
          <p:cNvPr id="3" name="Content Placeholder 2"/>
          <p:cNvSpPr>
            <a:spLocks noGrp="1"/>
          </p:cNvSpPr>
          <p:nvPr>
            <p:ph idx="1"/>
          </p:nvPr>
        </p:nvSpPr>
        <p:spPr/>
        <p:txBody>
          <a:bodyPr/>
          <a:lstStyle/>
          <a:p>
            <a:r>
              <a:rPr lang="en-US" dirty="0"/>
              <a:t>Understand that both outcome levels serve different scopes.</a:t>
            </a:r>
          </a:p>
          <a:p>
            <a:r>
              <a:rPr lang="en-US" dirty="0"/>
              <a:t>Use the alignment map as the primary linking tool.</a:t>
            </a:r>
          </a:p>
          <a:p>
            <a:r>
              <a:rPr lang="en-US" dirty="0"/>
              <a:t>Apply concrete strategies to identify defensible connections.</a:t>
            </a:r>
          </a:p>
          <a:p>
            <a:r>
              <a:rPr lang="en-US" dirty="0"/>
              <a:t>Verify cognitive depth matches across the linked levels.</a:t>
            </a:r>
          </a:p>
          <a:p>
            <a:r>
              <a:rPr lang="en-US" dirty="0"/>
              <a:t>Document the reasoning behind each mapping decision.</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Gaps in the Alignment Map</a:t>
            </a:r>
          </a:p>
        </p:txBody>
      </p:sp>
      <p:sp>
        <p:nvSpPr>
          <p:cNvPr id="3" name="Content Placeholder 2"/>
          <p:cNvSpPr>
            <a:spLocks noGrp="1"/>
          </p:cNvSpPr>
          <p:nvPr>
            <p:ph idx="1"/>
          </p:nvPr>
        </p:nvSpPr>
        <p:spPr/>
        <p:txBody>
          <a:bodyPr/>
          <a:lstStyle/>
          <a:p>
            <a:r>
              <a:rPr lang="en-US" dirty="0"/>
              <a:t>The map makes missing or weak connections immediately visible.</a:t>
            </a:r>
          </a:p>
          <a:p>
            <a:r>
              <a:rPr lang="en-US" dirty="0"/>
              <a:t>Gaps fall into distinct categories, each requiring different fixes.</a:t>
            </a:r>
          </a:p>
          <a:p>
            <a:r>
              <a:rPr lang="en-US" dirty="0"/>
              <a:t>Gaps signal that the course may lack coherence.</a:t>
            </a:r>
          </a:p>
          <a:p>
            <a:r>
              <a:rPr lang="en-US" dirty="0"/>
              <a:t>Diagnose the root cause before choosing a resolution strategy.</a:t>
            </a:r>
          </a:p>
          <a:p>
            <a:r>
              <a:rPr lang="en-US" dirty="0"/>
              <a:t>Re-audit the map after revisions to confirm gaps are closed.</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Cognitive Depth and Bloom's Taxonomy</a:t>
            </a:r>
          </a:p>
        </p:txBody>
      </p:sp>
      <p:sp>
        <p:nvSpPr>
          <p:cNvPr id="3" name="Content Placeholder 2"/>
          <p:cNvSpPr>
            <a:spLocks noGrp="1"/>
          </p:cNvSpPr>
          <p:nvPr>
            <p:ph idx="1"/>
          </p:nvPr>
        </p:nvSpPr>
        <p:spPr/>
        <p:txBody>
          <a:bodyPr/>
          <a:lstStyle/>
          <a:p>
            <a:r>
              <a:rPr lang="en-US" dirty="0"/>
              <a:t>Course outcomes demand higher-order thinking skills.</a:t>
            </a:r>
          </a:p>
          <a:p>
            <a:r>
              <a:rPr lang="en-US" dirty="0"/>
              <a:t>Bloom's Taxonomy provides a shared framework for auditing depth.</a:t>
            </a:r>
          </a:p>
          <a:p>
            <a:r>
              <a:rPr lang="en-US" dirty="0"/>
              <a:t>Tag each outcome with its corresponding Bloom's level.</a:t>
            </a:r>
          </a:p>
          <a:p>
            <a:r>
              <a:rPr lang="en-US" dirty="0"/>
              <a:t>Cognitive gaps occur when module levels fall below course benchmarks.</a:t>
            </a:r>
          </a:p>
          <a:p>
            <a:r>
              <a:rPr lang="en-US" dirty="0"/>
              <a:t>The alignment map documents cognitive depth decisions course-wide.</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Strategies for Closing Cognitive Depth Gaps</a:t>
            </a:r>
          </a:p>
        </p:txBody>
      </p:sp>
      <p:sp>
        <p:nvSpPr>
          <p:cNvPr id="3" name="Content Placeholder 2"/>
          <p:cNvSpPr>
            <a:spLocks noGrp="1"/>
          </p:cNvSpPr>
          <p:nvPr>
            <p:ph idx="1"/>
          </p:nvPr>
        </p:nvSpPr>
        <p:spPr/>
        <p:txBody>
          <a:bodyPr/>
          <a:lstStyle/>
          <a:p>
            <a:r>
              <a:rPr lang="en-US" dirty="0"/>
              <a:t>Revise existing module outcomes to require deeper thinking.</a:t>
            </a:r>
          </a:p>
          <a:p>
            <a:r>
              <a:rPr lang="en-US" dirty="0"/>
              <a:t>Add new module outcomes at higher cognitive levels.</a:t>
            </a:r>
          </a:p>
          <a:p>
            <a:r>
              <a:rPr lang="en-US" dirty="0"/>
              <a:t>Restructure how modules sequence cognitive demand progressively.</a:t>
            </a:r>
          </a:p>
          <a:p>
            <a:r>
              <a:rPr lang="en-US" dirty="0"/>
              <a:t>Ensure at least one module addresses each higher-order skill.</a:t>
            </a:r>
          </a:p>
          <a:p>
            <a:r>
              <a:rPr lang="en-US" dirty="0"/>
              <a:t>Update the alignment map to reflect all revisions made.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Course outcomes are broad, cumulative, and higher-order.</a:t>
            </a:r>
          </a:p>
          <a:p>
            <a:r>
              <a:rPr lang="en-US" dirty="0"/>
              <a:t>Module outcomes are specific, scoped, and incremental.</a:t>
            </a:r>
          </a:p>
          <a:p>
            <a:r>
              <a:rPr lang="en-US" dirty="0"/>
              <a:t>The alignment map makes outcome relationships explicit and auditable.</a:t>
            </a:r>
          </a:p>
          <a:p>
            <a:r>
              <a:rPr lang="en-US" dirty="0"/>
              <a:t>Gaps in the map signal coherence problems requiring diagnosis.</a:t>
            </a:r>
          </a:p>
          <a:p>
            <a:r>
              <a:rPr lang="en-US" dirty="0"/>
              <a:t>Cognitive depth must match across both outcome levels.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10</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Course Outcomes vs. Module Outcomes and the Alignment Map</dc:title>
  <dc:creator>PreseMaker</dc:creator>
  <cp:lastModifiedBy>PreseMaker</cp:lastModifiedBy>
  <dcterms:created xsi:type="dcterms:W3CDTF">2026-07-09T13:27:55Z</dcterms:created>
  <dcterms:modified xsi:type="dcterms:W3CDTF">2026-07-09T13:27:55Z</dcterms:modified>
</cp:coreProperties>
</file>