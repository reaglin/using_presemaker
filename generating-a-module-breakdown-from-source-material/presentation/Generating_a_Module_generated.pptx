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session on generating a module breakdown from source material. We will walk through how PreseMaker reads uploaded content, proposes a course structure, and gives you the tools to review, accept, adjust, or replace that structure. We will also look at how your course and modules are stored on disk.</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analysis process begins the moment a user uploads source material. PreseMaker reads through the full document, parsing its language and structure to understand what the content is about. It then identifies the dominant themes and groups content into distinct areas. From that analysis, it produces an initial module breakdown. Understanding what drives the AI's decisions — primarily content patterns, topic frequency, and logical groupings — helps you evaluate its proposals with confidence.</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does not apply a fixed template. Instead, it reads signals within your content — how often topics appear, how they relate to each other, and how densely information is packed in different sections. The richer and more clearly structured your source material, the more accurate and useful the AI's initial structural proposal will be. This is why preparing clean, well-organized source documents leads to better starting points.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analysis is complete, PreseMaker displays a module breakdown showing how it proposes to divide your course. Each entry in the list contains a module title and a brief description of its scope, giving you enough information to evaluate whether the grouping makes sense. It is important to treat this as a starting point — a draft — rather than a definitive structure. Your job at this stage is to examine each proposed module against your course design goals.</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Each suggested module is more than just a label. The title gives a concise name to the content area, while the scope description explains what will be included. Together, these elements let you quickly assess whether the AI has correctly identified a coherent content area or whether adjustments are needed. Reviewing these details carefully before proceeding is a critical step in the workflow.</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the proposed breakdown accurately reflects your intended course structure, you can accept it. This is a deliberate action in PreseMaker — not something that happens automatically. Before clicking Accept, verify that each module is appropriate, logically ordered, and aligned with your learning objectives. Once accepted, PreseMaker uses that structure to drive all subsequent authoring steps, so it is important to understand that accepting is a commitment to move forward with this design.</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Accepting the module breakdown is a meaningful milestone in the authoring process. Once confirmed, PreseMaker treats the structure as authoritative and begins using it to scaffold all further content development. If you later realize the structure needs significant changes, you will need to revisit earlier steps. This is why thorough review before acceptance is strongly recommended.</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If the overall structure is sound but individual modules need refinement, PreseMaker allows targeted adjustments. You can rename a module title, revise its description to narrow or broaden its scope, or drag modules into a different sequence. These edits are independent — changing one module does not cascade changes to the rest of the breakdown, giving you precise control over the structure.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Sometimes the AI's initial proposal misses the mark entirely. In those cases, you can discard the current breakdown and request a completely new one. Before regenerating, consider revising your module description or improving the source material to give the AI better signals. This guided regeneration approach often yields a significantly more useful second proposal.</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Whether you have made targeted adjustments or replaced the entire structure, the final step is to confirm and lock the breakdown. This action signals to PreseMaker that the structure is finalized and ready to drive content development. Locking the breakdown provides stability for the authoring steps that follow and ensures that the structure you designed is the one used throughout the project.</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does not use an opaque database to store your courses. Instead, it organizes everything as a folder hierarchy on your local file system. The course becomes a top-level folder, and each module within it becomes a named subfolder. This mirrors exactly what you see in the PreseMaker interface. Inside each module subfolder, you will find all the files required to define and deliver that module's content.</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folder-based approach gives authors and administrators practical advantages. Because content lives in standard folders and files, you can use any file manager, backup tool, or version control system to work with your courses. There is no need for proprietary export processes. This transparency also makes it easier to audit what has been created, share content with colleagues, or migrate courses to new environments.</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PreseMaker begins by reading and parsing your source material, identifying key themes, and generating an initial module breakdown. That breakdown is a draft — you are expected to review it critically and either accept it, refine individual modules, or replace it entirely. Once confirmed, the structure drives all subsequent authoring steps. Throughout this process, your course and its modules are stored as a clear, portable folder hierarchy on your local file system, giving you full visibility into your content.</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a Module Breakdown from Source Material</a:t>
            </a:r>
          </a:p>
        </p:txBody>
      </p:sp>
      <p:sp>
        <p:nvSpPr>
          <p:cNvPr id="3" name="Content Placeholder 2"/>
          <p:cNvSpPr>
            <a:spLocks noGrp="1"/>
          </p:cNvSpPr>
          <p:nvPr>
            <p:ph idx="1"/>
          </p:nvPr>
        </p:nvSpPr>
        <p:spPr/>
        <p:txBody>
          <a:bodyPr/>
          <a:lstStyle/>
          <a:p>
            <a:pPr algn="ctr">
              <a:buNone/>
            </a:pPr>
            <a:r>
              <a:rPr lang="en-US" dirty="0"/>
              <a:t>How PreseMaker analyzes content and structures courses using AI-driven module proposals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PreseMaker Analyzes Source Material</a:t>
            </a:r>
          </a:p>
        </p:txBody>
      </p:sp>
      <p:sp>
        <p:nvSpPr>
          <p:cNvPr id="3" name="Content Placeholder 2"/>
          <p:cNvSpPr>
            <a:spLocks noGrp="1"/>
          </p:cNvSpPr>
          <p:nvPr>
            <p:ph idx="1"/>
          </p:nvPr>
        </p:nvSpPr>
        <p:spPr/>
        <p:txBody>
          <a:bodyPr/>
          <a:lstStyle/>
          <a:p>
            <a:r>
              <a:rPr lang="en-US" dirty="0"/>
              <a:t>Upload source material to give PreseMaker its raw input</a:t>
            </a:r>
          </a:p>
          <a:p>
            <a:r>
              <a:rPr lang="en-US" dirty="0"/>
              <a:t>PreseMaker reads and parses language, structure, and subject matter</a:t>
            </a:r>
          </a:p>
          <a:p>
            <a:r>
              <a:rPr lang="en-US" dirty="0"/>
              <a:t>The AI surfaces dominant themes and distinct content areas</a:t>
            </a:r>
          </a:p>
          <a:p>
            <a:r>
              <a:rPr lang="en-US" dirty="0"/>
              <a:t>A structural proposal is generated based on thematic analysis</a:t>
            </a:r>
          </a:p>
          <a:p>
            <a:r>
              <a:rPr lang="en-US" dirty="0"/>
              <a:t>AI decisions are driven by content patterns and topic density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Drives the AI's Structural Decisions</a:t>
            </a:r>
          </a:p>
        </p:txBody>
      </p:sp>
      <p:sp>
        <p:nvSpPr>
          <p:cNvPr id="3" name="Content Placeholder 2"/>
          <p:cNvSpPr>
            <a:spLocks noGrp="1"/>
          </p:cNvSpPr>
          <p:nvPr>
            <p:ph idx="1"/>
          </p:nvPr>
        </p:nvSpPr>
        <p:spPr/>
        <p:txBody>
          <a:bodyPr/>
          <a:lstStyle/>
          <a:p>
            <a:r>
              <a:rPr lang="en-US" dirty="0"/>
              <a:t>Topic frequency and emphasis influence module boundaries</a:t>
            </a:r>
          </a:p>
          <a:p>
            <a:r>
              <a:rPr lang="en-US" dirty="0"/>
              <a:t>Logical relationships between ideas shape groupings</a:t>
            </a:r>
          </a:p>
          <a:p>
            <a:r>
              <a:rPr lang="en-US" dirty="0"/>
              <a:t>Content density signals where modules should begin or end</a:t>
            </a:r>
          </a:p>
          <a:p>
            <a:r>
              <a:rPr lang="en-US" dirty="0"/>
              <a:t>Source material quality directly affects proposal accuracy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the AI-Suggested Module Breakdown</a:t>
            </a:r>
          </a:p>
        </p:txBody>
      </p:sp>
      <p:sp>
        <p:nvSpPr>
          <p:cNvPr id="3" name="Content Placeholder 2"/>
          <p:cNvSpPr>
            <a:spLocks noGrp="1"/>
          </p:cNvSpPr>
          <p:nvPr>
            <p:ph idx="1"/>
          </p:nvPr>
        </p:nvSpPr>
        <p:spPr/>
        <p:txBody>
          <a:bodyPr/>
          <a:lstStyle/>
          <a:p>
            <a:r>
              <a:rPr lang="en-US" dirty="0"/>
              <a:t>The breakdown presents proposed modules as a structured list</a:t>
            </a:r>
          </a:p>
          <a:p>
            <a:r>
              <a:rPr lang="en-US" dirty="0"/>
              <a:t>Each module includes a title and a scope description</a:t>
            </a:r>
          </a:p>
          <a:p>
            <a:r>
              <a:rPr lang="en-US" dirty="0"/>
              <a:t>The breakdown reflects logical divisions found in the content</a:t>
            </a:r>
          </a:p>
          <a:p>
            <a:r>
              <a:rPr lang="en-US" dirty="0"/>
              <a:t>This is a draft structure, not a final course decision</a:t>
            </a:r>
          </a:p>
          <a:p>
            <a:r>
              <a:rPr lang="en-US" dirty="0"/>
              <a:t>Learners are expected to review the proposal critically</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Inside Each Suggested Module</a:t>
            </a:r>
          </a:p>
        </p:txBody>
      </p:sp>
      <p:sp>
        <p:nvSpPr>
          <p:cNvPr id="3" name="Content Placeholder 2"/>
          <p:cNvSpPr>
            <a:spLocks noGrp="1"/>
          </p:cNvSpPr>
          <p:nvPr>
            <p:ph idx="1"/>
          </p:nvPr>
        </p:nvSpPr>
        <p:spPr/>
        <p:txBody>
          <a:bodyPr/>
          <a:lstStyle/>
          <a:p>
            <a:r>
              <a:rPr lang="en-US" dirty="0"/>
              <a:t>Module title summarizes the core content area</a:t>
            </a:r>
          </a:p>
          <a:p>
            <a:r>
              <a:rPr lang="en-US" dirty="0"/>
              <a:t>Scope description outlines what the module covers</a:t>
            </a:r>
          </a:p>
          <a:p>
            <a:r>
              <a:rPr lang="en-US" dirty="0"/>
              <a:t>Boundaries indicate where one module ends and another begins</a:t>
            </a:r>
          </a:p>
          <a:p>
            <a:r>
              <a:rPr lang="en-US" dirty="0"/>
              <a:t>Descriptions help you assess accuracy and completeness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Accepting the Proposed Module Structure</a:t>
            </a:r>
          </a:p>
        </p:txBody>
      </p:sp>
      <p:sp>
        <p:nvSpPr>
          <p:cNvPr id="3" name="Content Placeholder 2"/>
          <p:cNvSpPr>
            <a:spLocks noGrp="1"/>
          </p:cNvSpPr>
          <p:nvPr>
            <p:ph idx="1"/>
          </p:nvPr>
        </p:nvSpPr>
        <p:spPr/>
        <p:txBody>
          <a:bodyPr/>
          <a:lstStyle/>
          <a:p>
            <a:r>
              <a:rPr lang="en-US" dirty="0"/>
              <a:t>Review each module against your course design goals</a:t>
            </a:r>
          </a:p>
          <a:p>
            <a:r>
              <a:rPr lang="en-US" dirty="0"/>
              <a:t>Accept when the structure meets requirements without major changes</a:t>
            </a:r>
          </a:p>
          <a:p>
            <a:r>
              <a:rPr lang="en-US" dirty="0"/>
              <a:t>Use the Accept action in the PreseMaker interface to confirm</a:t>
            </a:r>
          </a:p>
          <a:p>
            <a:r>
              <a:rPr lang="en-US" dirty="0"/>
              <a:t>Acceptance sets this structure as the authoring foundation</a:t>
            </a:r>
          </a:p>
          <a:p>
            <a:r>
              <a:rPr lang="en-US" dirty="0"/>
              <a:t>Distinguish accepting from adjusting or replacing the breakdown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Happens After You Accept</a:t>
            </a:r>
          </a:p>
        </p:txBody>
      </p:sp>
      <p:sp>
        <p:nvSpPr>
          <p:cNvPr id="3" name="Content Placeholder 2"/>
          <p:cNvSpPr>
            <a:spLocks noGrp="1"/>
          </p:cNvSpPr>
          <p:nvPr>
            <p:ph idx="1"/>
          </p:nvPr>
        </p:nvSpPr>
        <p:spPr/>
        <p:txBody>
          <a:bodyPr/>
          <a:lstStyle/>
          <a:p>
            <a:r>
              <a:rPr lang="en-US" dirty="0"/>
              <a:t>PreseMaker locks the accepted structure as the course foundation</a:t>
            </a:r>
          </a:p>
          <a:p>
            <a:r>
              <a:rPr lang="en-US" dirty="0"/>
              <a:t>All subsequent authoring steps build on this breakdown</a:t>
            </a:r>
          </a:p>
          <a:p>
            <a:r>
              <a:rPr lang="en-US" dirty="0"/>
              <a:t>Module titles and scope guide content generation going forward</a:t>
            </a:r>
          </a:p>
          <a:p>
            <a:r>
              <a:rPr lang="en-US" dirty="0"/>
              <a:t>Returning to restructure later requires additional steps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Adjusting Individual Modules in the Breakdown</a:t>
            </a:r>
          </a:p>
        </p:txBody>
      </p:sp>
      <p:sp>
        <p:nvSpPr>
          <p:cNvPr id="3" name="Content Placeholder 2"/>
          <p:cNvSpPr>
            <a:spLocks noGrp="1"/>
          </p:cNvSpPr>
          <p:nvPr>
            <p:ph idx="1"/>
          </p:nvPr>
        </p:nvSpPr>
        <p:spPr/>
        <p:txBody>
          <a:bodyPr/>
          <a:lstStyle/>
          <a:p>
            <a:r>
              <a:rPr lang="en-US" dirty="0"/>
              <a:t>Edit any module title to better match course goals</a:t>
            </a:r>
          </a:p>
          <a:p>
            <a:r>
              <a:rPr lang="en-US" dirty="0"/>
              <a:t>Adjust a module's scope or description independently</a:t>
            </a:r>
          </a:p>
          <a:p>
            <a:r>
              <a:rPr lang="en-US" dirty="0"/>
              <a:t>Reorder modules to create a more logical instructional flow</a:t>
            </a:r>
          </a:p>
          <a:p>
            <a:r>
              <a:rPr lang="en-US" dirty="0"/>
              <a:t>Changes to one module do not force changes to others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Replacing the Entire Module Breakdown</a:t>
            </a:r>
          </a:p>
        </p:txBody>
      </p:sp>
      <p:sp>
        <p:nvSpPr>
          <p:cNvPr id="3" name="Content Placeholder 2"/>
          <p:cNvSpPr>
            <a:spLocks noGrp="1"/>
          </p:cNvSpPr>
          <p:nvPr>
            <p:ph idx="1"/>
          </p:nvPr>
        </p:nvSpPr>
        <p:spPr/>
        <p:txBody>
          <a:bodyPr/>
          <a:lstStyle/>
          <a:p>
            <a:r>
              <a:rPr lang="en-US" dirty="0"/>
              <a:t>Discard the full AI proposal if it does not meet requirements</a:t>
            </a:r>
          </a:p>
          <a:p>
            <a:r>
              <a:rPr lang="en-US" dirty="0"/>
              <a:t>Request a new breakdown to generate a fresh structure</a:t>
            </a:r>
          </a:p>
          <a:p>
            <a:r>
              <a:rPr lang="en-US" dirty="0"/>
              <a:t>Revise source material or description before regenerating</a:t>
            </a:r>
          </a:p>
          <a:p>
            <a:r>
              <a:rPr lang="en-US" dirty="0"/>
              <a:t>Regeneration uses updated inputs to produce a better proposal</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Confirming and Locking the Final Breakdown</a:t>
            </a:r>
          </a:p>
        </p:txBody>
      </p:sp>
      <p:sp>
        <p:nvSpPr>
          <p:cNvPr id="3" name="Content Placeholder 2"/>
          <p:cNvSpPr>
            <a:spLocks noGrp="1"/>
          </p:cNvSpPr>
          <p:nvPr>
            <p:ph idx="1"/>
          </p:nvPr>
        </p:nvSpPr>
        <p:spPr/>
        <p:txBody>
          <a:bodyPr/>
          <a:lstStyle/>
          <a:p>
            <a:r>
              <a:rPr lang="en-US" dirty="0"/>
              <a:t>Review the adjusted or replaced breakdown before confirming</a:t>
            </a:r>
          </a:p>
          <a:p>
            <a:r>
              <a:rPr lang="en-US" dirty="0"/>
              <a:t>Confirm the breakdown to lock it for further development</a:t>
            </a:r>
          </a:p>
          <a:p>
            <a:r>
              <a:rPr lang="en-US" dirty="0"/>
              <a:t>Locking prevents unintended structural changes downstream</a:t>
            </a:r>
          </a:p>
          <a:p>
            <a:r>
              <a:rPr lang="en-US" dirty="0"/>
              <a:t>A confirmed breakdown becomes the basis for all course content</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and Module Storage as Folders on Disk</a:t>
            </a:r>
          </a:p>
        </p:txBody>
      </p:sp>
      <p:sp>
        <p:nvSpPr>
          <p:cNvPr id="3" name="Content Placeholder 2"/>
          <p:cNvSpPr>
            <a:spLocks noGrp="1"/>
          </p:cNvSpPr>
          <p:nvPr>
            <p:ph idx="1"/>
          </p:nvPr>
        </p:nvSpPr>
        <p:spPr/>
        <p:txBody>
          <a:bodyPr/>
          <a:lstStyle/>
          <a:p>
            <a:r>
              <a:rPr lang="en-US" dirty="0"/>
              <a:t>Each course is stored as a top-level folder on your local system</a:t>
            </a:r>
          </a:p>
          <a:p>
            <a:r>
              <a:rPr lang="en-US" dirty="0"/>
              <a:t>Each module is a subfolder nested inside the course folder</a:t>
            </a:r>
          </a:p>
          <a:p>
            <a:r>
              <a:rPr lang="en-US" dirty="0"/>
              <a:t>The on-screen structure mirrors the file system hierarchy exactly</a:t>
            </a:r>
          </a:p>
          <a:p>
            <a:r>
              <a:rPr lang="en-US" dirty="0"/>
              <a:t>Module subfolders contain all files needed for that module</a:t>
            </a:r>
          </a:p>
          <a:p>
            <a:r>
              <a:rPr lang="en-US" dirty="0"/>
              <a:t>Folder-based storage makes content portable and manageable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the Folder-Based Storage Model</a:t>
            </a:r>
          </a:p>
        </p:txBody>
      </p:sp>
      <p:sp>
        <p:nvSpPr>
          <p:cNvPr id="3" name="Content Placeholder 2"/>
          <p:cNvSpPr>
            <a:spLocks noGrp="1"/>
          </p:cNvSpPr>
          <p:nvPr>
            <p:ph idx="1"/>
          </p:nvPr>
        </p:nvSpPr>
        <p:spPr/>
        <p:txBody>
          <a:bodyPr/>
          <a:lstStyle/>
          <a:p>
            <a:r>
              <a:rPr lang="en-US" dirty="0"/>
              <a:t>Transparent storage lets you see exactly what exists on disk</a:t>
            </a:r>
          </a:p>
          <a:p>
            <a:r>
              <a:rPr lang="en-US" dirty="0"/>
              <a:t>Courses are portable — move or copy folders easily</a:t>
            </a:r>
          </a:p>
          <a:p>
            <a:r>
              <a:rPr lang="en-US" dirty="0"/>
              <a:t>Standard file tools can be used to manage or back up content</a:t>
            </a:r>
          </a:p>
          <a:p>
            <a:r>
              <a:rPr lang="en-US" dirty="0"/>
              <a:t>The structure is human-readable without specialized software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Generating a Module Breakdown</a:t>
            </a:r>
          </a:p>
        </p:txBody>
      </p:sp>
      <p:sp>
        <p:nvSpPr>
          <p:cNvPr id="3" name="Content Placeholder 2"/>
          <p:cNvSpPr>
            <a:spLocks noGrp="1"/>
          </p:cNvSpPr>
          <p:nvPr>
            <p:ph idx="1"/>
          </p:nvPr>
        </p:nvSpPr>
        <p:spPr/>
        <p:txBody>
          <a:bodyPr/>
          <a:lstStyle/>
          <a:p>
            <a:r>
              <a:rPr lang="en-US" dirty="0"/>
              <a:t>PreseMaker analyzes uploaded source material to identify themes</a:t>
            </a:r>
          </a:p>
          <a:p>
            <a:r>
              <a:rPr lang="en-US" dirty="0"/>
              <a:t>The AI proposes a module breakdown as a draft structure</a:t>
            </a:r>
          </a:p>
          <a:p>
            <a:r>
              <a:rPr lang="en-US" dirty="0"/>
              <a:t>Accept the structure when it meets your course design needs</a:t>
            </a:r>
          </a:p>
          <a:p>
            <a:r>
              <a:rPr lang="en-US" dirty="0"/>
              <a:t>Adjust, reorder, or replace the breakdown as required</a:t>
            </a:r>
          </a:p>
          <a:p>
            <a:r>
              <a:rPr lang="en-US" dirty="0"/>
              <a:t>Courses and modules are stored as transparent folders on disk</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13</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Generating a Module Breakdown from Source Material</dc:title>
  <dc:creator>PreseMaker</dc:creator>
  <cp:lastModifiedBy>PreseMaker</cp:lastModifiedBy>
  <dcterms:created xsi:type="dcterms:W3CDTF">2026-07-09T13:18:48Z</dcterms:created>
  <dcterms:modified xsi:type="dcterms:W3CDTF">2026-07-09T13:18:48Z</dcterms:modified>
</cp:coreProperties>
</file>