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theme/theme1.xml" ContentType="application/vnd.openxmlformats-officedocument.theme+xml"/>
  <Override PartName="/ppt/theme/theme2.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a="http://schemas.openxmlformats.org/drawingml/2006/main" xmlns:r="http://schemas.openxmlformats.org/officeDocument/2006/relationships" saveSubsetFonts="1">
  <p:sldMasterIdLst>
    <p:sldMasterId id="2147483648"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type="custom"/>
  <p:notesSz cx="6858000" cy="9144000"/>
</p:presentation>
</file>

<file path=ppt/presProps.xml><?xml version="1.0" encoding="utf-8"?>
<p:presentationPr xmlns:a="http://schemas.openxmlformats.org/drawingml/2006/main" xmlns:p="http://schemas.openxmlformats.org/presentationml/2006/main">
  <p:extLst>
    <p:ext uri="{E76CE94A-603C-4142-B9EB-6D1370010A27}">
      <p14:discardImageEditData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p:normalViewPr>
    <p:restoredLeft sz="15611"/>
    <p:restoredTop sz="94610"/>
  </p:normalViewPr>
  <p:slideViewPr>
    <p:cSldViewPr snapToGrid="0">
      <p:cViewPr varScale="1">
        <p:scale>
          <a:sx n="64" d="100"/>
          <a:sy n="64" d="100"/>
        </p:scale>
        <p:origin x="-1236" y="-114"/>
      </p:cViewPr>
      <p:guideLst/>
    </p:cSldViewPr>
  </p:slideViewPr>
  <p:notesTextViewPr>
    <p:cViewPr>
      <p:scale>
        <a:sx n="1" d="1"/>
        <a:sy n="1" d="1"/>
      </p:scale>
      <p:origin x="0" y="0"/>
    </p:cViewPr>
  </p:notesText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notesMaster" Target="notesMasters/notes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http://schemas.openxmlformats.org/presentationml/2006/main" xmlns:a="http://schemas.openxmlformats.org/drawingml/2006/main" xmlns:r="http://schemas.openxmlformats.org/officeDocument/2006/relationships">
  <p:cSld>
    <p:bg>
      <p:bgPr>
        <a:solidFill>
          <a:srgbClr val="FFFFFF"/>
        </a:solidFill>
        <a:effectLst/>
      </p:bgPr>
    </p:bg>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3600450"/>
            <a:ext cx="5486400" cy="3600450"/>
          </a:xfrm>
          <a:prstGeom prst="rect">
            <a:avLst/>
          </a:prstGeom>
        </p:spPr>
        <p:txBody>
          <a:bodyPr/>
          <a:lstStyle/>
          <a:p>
            <a:r>
              <a:t/>
            </a:r>
          </a:p>
        </p:txBody>
      </p:sp>
    </p:spTree>
  </p:cSld>
  <p:clrMap bg1="lt1" tx1="dk1" bg2="lt2" tx2="dk2" accent1="accent1" accent2="accent2" accent3="accent3" accent4="accent4" accent5="accent5" accent6="accent6" hlink="hlink" folHlink="folHlink"/>
  <p:txStyles>
    <p:bodyStyle/>
    <p:otherStyle/>
  </p:txStyles>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Welcome participants and introduce the session. This presentation covers the Module Index in full — what it is, how to navigate it, how to open and review files, and how the HTML index works as a portable, offline-ready snapshot of the entire module. By the end, users will be confident working with the Module Index as their primary reference point for all generated content.</a:t>
            </a:r>
          </a:p>
        </p:txBody>
      </p:sp>
    </p:spTree>
  </p:cSld>
  <p:clrMapOvr>
    <a:masterClrMapping/>
  </p:clrMapOvr>
</p:notes>
</file>

<file path=ppt/notesSlides/notesSlide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Module Index is the authoritative hub for every artifact produced within a module. Its dual role is critical: it keeps a persistent record so nothing is overlooked, and it lets users open and review content without searching external folders. The HTML index extends this by offering a browser-based view of the entire module. Emphasise that centralisation gives both learners and instructors confidence they are seeing the complete picture — nothing is scattered or missing.</a:t>
            </a:r>
          </a:p>
        </p:txBody>
      </p:sp>
    </p:spTree>
  </p:cSld>
  <p:clrMapOvr>
    <a:masterClrMapping/>
  </p:clrMapOvr>
</p:notes>
</file>

<file path=ppt/notesSlides/notesSlide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One of the two foundational functions of the Module Index is record-keeping. Every file generated during a module session is logged automatically. This persistent record means users and instructors can always refer back to any artifact, regardless of when it was produced. Stress that the record is comprehensive — there is no need to cross-reference external systems or worry about missing content.</a:t>
            </a:r>
          </a:p>
        </p:txBody>
      </p:sp>
    </p:spTree>
  </p:cSld>
  <p:clrMapOvr>
    <a:masterClrMapping/>
  </p:clrMapOvr>
</p:notes>
</file>

<file path=ppt/notesSlides/notesSlide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Beyond record-keeping, the Module Index doubles as a viewer. Users can open any listed artifact directly from the catalogue without navigating away or locating files manually in their operating system. This unified approach keeps the workflow contained and efficient. Highlight that the viewer is designed to render content clearly, reducing reliance on external applications or tools.</a:t>
            </a:r>
          </a:p>
        </p:txBody>
      </p:sp>
    </p:spTree>
  </p:cSld>
  <p:clrMapOvr>
    <a:masterClrMapping/>
  </p:clrMapOvr>
</p:notes>
</file>

<file path=ppt/notesSlides/notesSlide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Without a centralised catalogue, generated files can end up scattered across multiple folders, drives, or systems — creating confusion and the risk of missing important content. The Module Index solves this by acting as the single source of truth. Both learners and instructors benefit: learners know exactly where to find everything, and instructors can be certain all work is accounted for. This point reinforces why the Module Index is foundational to the module workflow.</a:t>
            </a:r>
          </a:p>
        </p:txBody>
      </p:sp>
    </p:spTree>
  </p:cSld>
  <p:clrMapOvr>
    <a:masterClrMapping/>
  </p:clrMapOvr>
</p:notes>
</file>

<file path=ppt/notesSlides/notesSlide6.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This slide introduces the practical layout and navigation of the Module Index interface. The structured layout means files are organised rather than presented in a flat, unsorted list. Users can scan visually or use search functionality to find specific artifacts. Sorting and filtering allow users to organise by file type, date, or other criteria. Each entry includes cues — icons or labels — that identify what kind of artifact it is, removing ambiguity. Standard controls such as clicking, scrolling, and selecting are consistent throughout the interface.</a:t>
            </a:r>
          </a:p>
        </p:txBody>
      </p:sp>
    </p:spTree>
  </p:cSld>
  <p:clrMapOvr>
    <a:masterClrMapping/>
  </p:clrMapOvr>
</p:notes>
</file>

<file path=ppt/notesSlides/notesSlide7.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Locating files is straightforward because the Module Index is comprehensive — every artifact is listed without exception. Users can scan the catalogue visually or use available search tools for efficiency. Visual or textual cues against each entry — such as icons, labels, or file-type indicators — let users quickly distinguish between different artifact types without opening them first. The HTML index provides another route to browse the same content in a web browser. Interaction patterns remain consistent, so learners do not need to relearn controls as they move through the index.</a:t>
            </a:r>
          </a:p>
        </p:txBody>
      </p:sp>
    </p:spTree>
  </p:cSld>
  <p:clrMapOvr>
    <a:masterClrMapping/>
  </p:clrMapOvr>
</p:notes>
</file>

<file path=ppt/notesSlides/notesSlide8.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Opening files is a streamlined, two-step process: locate the artifact in the index, then open it directly. The single-interaction open means there is no multi-step navigation or file-system searching. The integrated viewer renders the artifact clearly within the same environment, maintaining context. The viewer is not purely read-only — users can select text, follow internal links, and navigate between sections as appropriate for the file type. After reviewing, returning to the index is equally straightforward, keeping the Module Index as the persistent hub throughout the session.</a:t>
            </a:r>
          </a:p>
        </p:txBody>
      </p:sp>
    </p:spTree>
  </p:cSld>
  <p:clrMapOvr>
    <a:masterClrMapping/>
  </p:clrMapOvr>
</p:notes>
</file>

<file path=ppt/notesSlides/notesSlide9.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integrated viewer is a key advantage of the Module Index workflow. Because content renders inside the viewer, users avoid the friction of switching between applications or dealing with file compatibility issues. The viewer preserves formatting and structure so content appears as intended. Users can navigate within longer files using internal controls. When review is complete, exiting the viewer returns the user cleanly to the Module Index, maintaining session continuity.</a:t>
            </a:r>
          </a:p>
        </p:txBody>
      </p:sp>
    </p:spTree>
  </p:cSld>
  <p:clrMapOvr>
    <a:masterClrMapping/>
  </p:clrMapOvr>
</p:notes>
</file>

<file path=ppt/notesSlides/notesSlide10.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HTML index provides a parallel route for reviewing generated content. Rather than using the main interface, users can open the HTML index in any standard web browser and access the same artifacts. This is particularly useful in scenarios where the main interface is unavailable or where a browser-based experience is preferred. The HTML index is always a current snapshot of the module's generated content up to the moment it was last produced, making it a reliable review tool alongside the primary Module Index.</a:t>
            </a:r>
          </a:p>
        </p:txBody>
      </p:sp>
    </p:spTree>
  </p:cSld>
  <p:clrMapOvr>
    <a:masterClrMapping/>
  </p:clrMapOvr>
</p:notes>
</file>

<file path=ppt/notesSlides/notesSlide11.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HTML index is more than a convenience — it is a self-contained, portable representation of the entire module. Because the HTML file and all its linked artifacts reside in the same output folder, the folder can be moved, copied, or archived without breaking any links. This portability makes it easy to share the module with colleagues or store it for future reference. Crucially, it operates entirely offline, which is important for environments with limited or no internet connectivity. At any given moment, it reflects everything generated within the module up to that point.</a:t>
            </a:r>
          </a:p>
        </p:txBody>
      </p:sp>
    </p:spTree>
  </p:cSld>
  <p:clrMapOvr>
    <a:masterClrMapping/>
  </p:clrMapOvr>
</p:notes>
</file>

<file path=ppt/notesSlides/notesSlide12.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A common mistake when sharing the HTML index is copying only the HTML file itself, which breaks all links to the associated artifacts. Always move or share the entire output folder. Once shared, recipients receive a fully functional, self-contained module reference they can explore in any web browser without needing access to the original system, an internet connection, or any additional software. This makes the HTML index an excellent format for distributing module content to stakeholders, reviewers, or learners who were not present during the original session.</a:t>
            </a:r>
          </a:p>
        </p:txBody>
      </p:sp>
    </p:spTree>
  </p:cSld>
  <p:clrMapOvr>
    <a:masterClrMapping/>
  </p:clrMapOvr>
</p:notes>
</file>

<file path=ppt/notesSlides/notesSlide13.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The HTML index provides an organised, interactive browsing experience directly in a web browser. Users navigate through the module's content using links embedded within the HTML page, moving between artifacts in a logical, structured way. Because everything is local, there is zero dependence on a network connection. This offline capability is especially valuable in field settings, during travel, or in secure environments where internet access is restricted. The experience mirrors online browsing in usability while remaining entirely self-contained.</a:t>
            </a:r>
          </a:p>
        </p:txBody>
      </p:sp>
    </p:spTree>
  </p:cSld>
  <p:clrMapOvr>
    <a:masterClrMapping/>
  </p:clrMapOvr>
</p:notes>
</file>

<file path=ppt/notesSlides/notesSlide14.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Think of the HTML index as a photograph of the module at a specific point in time. It shows everything generated up to the moment it was produced. If new artifacts are added to the module later, the HTML index can be regenerated to include them, creating an updated snapshot. This versioning capability makes it useful for auditing purposes, progress tracking, and archiving completed modules. It elegantly combines the record-keeping and content-viewing roles of the Module Index in a single, portable, browser-accessible format.</a:t>
            </a:r>
          </a:p>
        </p:txBody>
      </p:sp>
    </p:spTree>
  </p:cSld>
  <p:clrMapOvr>
    <a:masterClrMapping/>
  </p:clrMapOvr>
</p:notes>
</file>

<file path=ppt/notesSlides/notesSlide15.xml><?xml version="1.0" encoding="utf-8"?>
<p:notes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457200"/>
            <a:ext cx="4114800" cy="3086100"/>
          </a:xfrm>
          <a:prstGeom prst="rect">
            <a:avLst/>
          </a:prstGeom>
          <a:noFill/>
          <a:ln>
            <a:solidFill>
              <a:prstClr val="black"/>
            </a:solidFill>
          </a:ln>
        </p:spPr>
        <p:txBody>
          <a:bodyPr/>
          <a:lstStyle/>
          <a:p/>
        </p:txBody>
      </p:sp>
      <p:sp>
        <p:nvSpPr>
          <p:cNvPr id="3" name="Notes Placeholder 2"/>
          <p:cNvSpPr>
            <a:spLocks noGrp="1"/>
          </p:cNvSpPr>
          <p:nvPr>
            <p:ph type="body" idx="1"/>
          </p:nvPr>
        </p:nvSpPr>
        <p:spPr>
          <a:xfrm>
            <a:off x="685800" y="3771900"/>
            <a:ext cx="5486400" cy="3600450"/>
          </a:xfrm>
          <a:prstGeom prst="rect">
            <a:avLst/>
          </a:prstGeom>
        </p:spPr>
        <p:txBody>
          <a:bodyPr/>
          <a:lstStyle/>
          <a:p>
            <a:r>
              <a:rPr lang="en-US" dirty="0"/>
              <a:t>To close, reinforce the key takeaways from this presentation. The Module Index is not just a file list — it is the authoritative, centralised hub for everything a module produces, fulfilling both record-keeping and content-viewing functions. Users can navigate its interface confidently using consistent controls, locate any artifact, and open it directly without leaving the index. The HTML index extends this value by providing a portable, offline-capable, shareable snapshot that works in any standard browser. The one critical rule: always move or share the complete output folder, never the HTML file alone. With these principles in mind, users are fully equipped to work effectively with the Module Index.</a:t>
            </a: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p="http://schemas.openxmlformats.org/presentationml/2006/main" xmlns:a="http://schemas.openxmlformats.org/drawingml/2006/main" xmlns:r="http://schemas.openxmlformats.org/officeDocument/2006/relationships" type="tx"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11277600" cy="1143000"/>
          </a:xfrm>
        </p:spPr>
        <p:txBody>
          <a:bodyPr/>
          <a:lstStyle/>
          <a:p>
            <a:r>
              <a:t>Click to edit title</a:t>
            </a:r>
          </a:p>
        </p:txBody>
      </p:sp>
      <p:sp>
        <p:nvSpPr>
          <p:cNvPr id="3" name="Content Placeholder 2"/>
          <p:cNvSpPr>
            <a:spLocks noGrp="1"/>
          </p:cNvSpPr>
          <p:nvPr>
            <p:ph idx="1"/>
          </p:nvPr>
        </p:nvSpPr>
        <p:spPr>
          <a:xfrm>
            <a:off x="457200" y="1600200"/>
            <a:ext cx="11277600" cy="4525963"/>
          </a:xfrm>
        </p:spPr>
        <p:txBody>
          <a:bodyPr/>
          <a:lstStyle/>
          <a:p>
            <a:r>
              <a:t>Click to add content</a:t>
            </a:r>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defRPr>
      </a:lvl2pPr>
    </p:bodyStyle>
    <p:otherStyle>
      <a:defPPr>
        <a:defRPr lang="en-US"/>
      </a:defPPr>
      <a:lvl1pPr marL="0" algn="l" defTabSz="914400" rtl="0" eaLnBrk="1" latinLnBrk="0" hangingPunct="1">
        <a:defRPr sz="1800" kern="1200">
          <a:solidFill>
            <a:schemeClr val="tx1"/>
          </a:solidFill>
          <a:latin typeface="+mn-lt"/>
        </a:defRPr>
      </a:lvl1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Module Index: Cataloguing and Viewing Generated Content</a:t>
            </a:r>
          </a:p>
        </p:txBody>
      </p:sp>
      <p:sp>
        <p:nvSpPr>
          <p:cNvPr id="3" name="Content Placeholder 2"/>
          <p:cNvSpPr>
            <a:spLocks noGrp="1"/>
          </p:cNvSpPr>
          <p:nvPr>
            <p:ph idx="1"/>
          </p:nvPr>
        </p:nvSpPr>
        <p:spPr/>
        <p:txBody>
          <a:bodyPr/>
          <a:lstStyle/>
          <a:p>
            <a:pPr algn="ctr">
              <a:buNone/>
            </a:pPr>
            <a:r>
              <a:rPr lang="en-US" dirty="0"/>
              <a:t>A professional guide to locating, navigating, and reviewing all module-generated artifacts from a single centralised catalogue.</a:t>
            </a:r>
          </a:p>
          <a:p>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Module Index?</a:t>
            </a:r>
          </a:p>
        </p:txBody>
      </p:sp>
      <p:sp>
        <p:nvSpPr>
          <p:cNvPr id="3" name="Content Placeholder 2"/>
          <p:cNvSpPr>
            <a:spLocks noGrp="1"/>
          </p:cNvSpPr>
          <p:nvPr>
            <p:ph idx="1"/>
          </p:nvPr>
        </p:nvSpPr>
        <p:spPr/>
        <p:txBody>
          <a:bodyPr/>
          <a:lstStyle/>
          <a:p>
            <a:r>
              <a:rPr lang="en-US" dirty="0"/>
              <a:t>The Module Index is the central catalogue of all module artifacts.</a:t>
            </a:r>
          </a:p>
          <a:p>
            <a:r>
              <a:rPr lang="en-US" dirty="0"/>
              <a:t>It serves as the single, authoritative reference for generated content.</a:t>
            </a:r>
          </a:p>
          <a:p>
            <a:r>
              <a:rPr lang="en-US" dirty="0"/>
              <a:t>It has two core roles: record-keeping and content viewing.</a:t>
            </a:r>
          </a:p>
          <a:p>
            <a:r>
              <a:rPr lang="en-US" dirty="0"/>
              <a:t>An HTML version provides a self-contained, browsable landing page.</a:t>
            </a:r>
          </a:p>
          <a:p>
            <a:r>
              <a:rPr lang="en-US" dirty="0"/>
              <a:t>A centralised catalogue prevents content fragmentation and loss.</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Record-Keeping Role</a:t>
            </a:r>
          </a:p>
        </p:txBody>
      </p:sp>
      <p:sp>
        <p:nvSpPr>
          <p:cNvPr id="3" name="Content Placeholder 2"/>
          <p:cNvSpPr>
            <a:spLocks noGrp="1"/>
          </p:cNvSpPr>
          <p:nvPr>
            <p:ph idx="1"/>
          </p:nvPr>
        </p:nvSpPr>
        <p:spPr/>
        <p:txBody>
          <a:bodyPr/>
          <a:lstStyle/>
          <a:p>
            <a:r>
              <a:rPr lang="en-US" dirty="0"/>
              <a:t>The Module Index persistently records every artifact produced.</a:t>
            </a:r>
          </a:p>
          <a:p>
            <a:r>
              <a:rPr lang="en-US" dirty="0"/>
              <a:t>Nothing generated during a module is lost or overlooked.</a:t>
            </a:r>
          </a:p>
          <a:p>
            <a:r>
              <a:rPr lang="en-US" dirty="0"/>
              <a:t>It creates a reliable, complete history of module output.</a:t>
            </a:r>
          </a:p>
          <a:p>
            <a:r>
              <a:rPr lang="en-US" dirty="0"/>
              <a:t>All artifacts remain accessible from one authoritative location.</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Content Viewer Role</a:t>
            </a:r>
          </a:p>
        </p:txBody>
      </p:sp>
      <p:sp>
        <p:nvSpPr>
          <p:cNvPr id="3" name="Content Placeholder 2"/>
          <p:cNvSpPr>
            <a:spLocks noGrp="1"/>
          </p:cNvSpPr>
          <p:nvPr>
            <p:ph idx="1"/>
          </p:nvPr>
        </p:nvSpPr>
        <p:spPr/>
        <p:txBody>
          <a:bodyPr/>
          <a:lstStyle/>
          <a:p>
            <a:r>
              <a:rPr lang="en-US" dirty="0"/>
              <a:t>The Module Index also functions as a unified content viewer.</a:t>
            </a:r>
          </a:p>
          <a:p>
            <a:r>
              <a:rPr lang="en-US" dirty="0"/>
              <a:t>Open and review generated files directly from the index.</a:t>
            </a:r>
          </a:p>
          <a:p>
            <a:r>
              <a:rPr lang="en-US" dirty="0"/>
              <a:t>No need to search external folders or file systems.</a:t>
            </a:r>
          </a:p>
          <a:p>
            <a:r>
              <a:rPr lang="en-US" dirty="0"/>
              <a:t>The viewer renders content clearly within a single environment.</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 Centralised Catalogue Matters</a:t>
            </a:r>
          </a:p>
        </p:txBody>
      </p:sp>
      <p:sp>
        <p:nvSpPr>
          <p:cNvPr id="3" name="Content Placeholder 2"/>
          <p:cNvSpPr>
            <a:spLocks noGrp="1"/>
          </p:cNvSpPr>
          <p:nvPr>
            <p:ph idx="1"/>
          </p:nvPr>
        </p:nvSpPr>
        <p:spPr/>
        <p:txBody>
          <a:bodyPr/>
          <a:lstStyle/>
          <a:p>
            <a:r>
              <a:rPr lang="en-US" dirty="0"/>
              <a:t>Centralisation prevents content from fragmenting across locations.</a:t>
            </a:r>
          </a:p>
          <a:p>
            <a:r>
              <a:rPr lang="en-US" dirty="0"/>
              <a:t>Users always work from one complete, accurate reference.</a:t>
            </a:r>
          </a:p>
          <a:p>
            <a:r>
              <a:rPr lang="en-US" dirty="0"/>
              <a:t>Instructors gain confidence that no artifact is missing.</a:t>
            </a:r>
          </a:p>
          <a:p>
            <a:r>
              <a:rPr lang="en-US" dirty="0"/>
              <a:t>A single catalogue supports consistent review and assessment.</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Navigating the Module Index Interface</a:t>
            </a:r>
          </a:p>
        </p:txBody>
      </p:sp>
      <p:sp>
        <p:nvSpPr>
          <p:cNvPr id="3" name="Content Placeholder 2"/>
          <p:cNvSpPr>
            <a:spLocks noGrp="1"/>
          </p:cNvSpPr>
          <p:nvPr>
            <p:ph idx="1"/>
          </p:nvPr>
        </p:nvSpPr>
        <p:spPr/>
        <p:txBody>
          <a:bodyPr/>
          <a:lstStyle/>
          <a:p>
            <a:r>
              <a:rPr lang="en-US" dirty="0"/>
              <a:t>The Module Index presents a structured, browsable file listing.</a:t>
            </a:r>
          </a:p>
          <a:p>
            <a:r>
              <a:rPr lang="en-US" dirty="0"/>
              <a:t>Scan or search the index to locate specific artifacts quickly.</a:t>
            </a:r>
          </a:p>
          <a:p>
            <a:r>
              <a:rPr lang="en-US" dirty="0"/>
              <a:t>Sorting and filtering options help organise the file catalogue.</a:t>
            </a:r>
          </a:p>
          <a:p>
            <a:r>
              <a:rPr lang="en-US" dirty="0"/>
              <a:t>Visual and textual cues identify each artifact's file type.</a:t>
            </a:r>
          </a:p>
          <a:p>
            <a:r>
              <a:rPr lang="en-US" dirty="0"/>
              <a:t>Standard navigation controls guide movement through the index.</a:t>
            </a: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Locating and Identifying Files in the Index</a:t>
            </a:r>
          </a:p>
        </p:txBody>
      </p:sp>
      <p:sp>
        <p:nvSpPr>
          <p:cNvPr id="3" name="Content Placeholder 2"/>
          <p:cNvSpPr>
            <a:spLocks noGrp="1"/>
          </p:cNvSpPr>
          <p:nvPr>
            <p:ph idx="1"/>
          </p:nvPr>
        </p:nvSpPr>
        <p:spPr/>
        <p:txBody>
          <a:bodyPr/>
          <a:lstStyle/>
          <a:p>
            <a:r>
              <a:rPr lang="en-US" dirty="0"/>
              <a:t>Every artifact produced in a module appears in the index.</a:t>
            </a:r>
          </a:p>
          <a:p>
            <a:r>
              <a:rPr lang="en-US" dirty="0"/>
              <a:t>Use scanning or search to find a specific file.</a:t>
            </a:r>
          </a:p>
          <a:p>
            <a:r>
              <a:rPr lang="en-US" dirty="0"/>
              <a:t>Each entry displays cues identifying its artifact type.</a:t>
            </a:r>
          </a:p>
          <a:p>
            <a:r>
              <a:rPr lang="en-US" dirty="0"/>
              <a:t>The HTML index offers a browsable alternative view.</a:t>
            </a:r>
          </a:p>
          <a:p>
            <a:r>
              <a:rPr lang="en-US" dirty="0"/>
              <a:t>Consistent interaction patterns apply across all entries.</a:t>
            </a:r>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Opening and Reviewing Generated Files</a:t>
            </a:r>
          </a:p>
        </p:txBody>
      </p:sp>
      <p:sp>
        <p:nvSpPr>
          <p:cNvPr id="3" name="Content Placeholder 2"/>
          <p:cNvSpPr>
            <a:spLocks noGrp="1"/>
          </p:cNvSpPr>
          <p:nvPr>
            <p:ph idx="1"/>
          </p:nvPr>
        </p:nvSpPr>
        <p:spPr/>
        <p:txBody>
          <a:bodyPr/>
          <a:lstStyle/>
          <a:p>
            <a:r>
              <a:rPr lang="en-US" dirty="0"/>
              <a:t>Locate the artifact in the Module Index catalogue first.</a:t>
            </a:r>
          </a:p>
          <a:p>
            <a:r>
              <a:rPr lang="en-US" dirty="0"/>
              <a:t>Open any artifact directly with a single interaction.</a:t>
            </a:r>
          </a:p>
          <a:p>
            <a:r>
              <a:rPr lang="en-US" dirty="0"/>
              <a:t>The integrated viewer renders content without external tools.</a:t>
            </a:r>
          </a:p>
          <a:p>
            <a:r>
              <a:rPr lang="en-US" dirty="0"/>
              <a:t>Interact with content: select text, follow links, navigate sections.</a:t>
            </a:r>
          </a:p>
          <a:p>
            <a:r>
              <a:rPr lang="en-US" dirty="0"/>
              <a:t>Return to the Module Index at any time to continue.</a:t>
            </a: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Using the Integrated Viewer</a:t>
            </a:r>
          </a:p>
        </p:txBody>
      </p:sp>
      <p:sp>
        <p:nvSpPr>
          <p:cNvPr id="3" name="Content Placeholder 2"/>
          <p:cNvSpPr>
            <a:spLocks noGrp="1"/>
          </p:cNvSpPr>
          <p:nvPr>
            <p:ph idx="1"/>
          </p:nvPr>
        </p:nvSpPr>
        <p:spPr/>
        <p:txBody>
          <a:bodyPr/>
          <a:lstStyle/>
          <a:p>
            <a:r>
              <a:rPr lang="en-US" dirty="0"/>
              <a:t>The viewer opens artifacts in a clear, readable environment.</a:t>
            </a:r>
          </a:p>
          <a:p>
            <a:r>
              <a:rPr lang="en-US" dirty="0"/>
              <a:t>No external application or software is required to view files.</a:t>
            </a:r>
          </a:p>
          <a:p>
            <a:r>
              <a:rPr lang="en-US" dirty="0"/>
              <a:t>Content is rendered faithfully, preserving formatting and structure.</a:t>
            </a:r>
          </a:p>
          <a:p>
            <a:r>
              <a:rPr lang="en-US" dirty="0"/>
              <a:t>Navigation within the viewer supports efficient content review.</a:t>
            </a:r>
          </a:p>
          <a:p>
            <a:r>
              <a:rPr lang="en-US" dirty="0"/>
              <a:t>Close or exit the viewer to return to the index.</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Reviewing Content via the HTML Index</a:t>
            </a:r>
          </a:p>
        </p:txBody>
      </p:sp>
      <p:sp>
        <p:nvSpPr>
          <p:cNvPr id="3" name="Content Placeholder 2"/>
          <p:cNvSpPr>
            <a:spLocks noGrp="1"/>
          </p:cNvSpPr>
          <p:nvPr>
            <p:ph idx="1"/>
          </p:nvPr>
        </p:nvSpPr>
        <p:spPr/>
        <p:txBody>
          <a:bodyPr/>
          <a:lstStyle/>
          <a:p>
            <a:r>
              <a:rPr lang="en-US" dirty="0"/>
              <a:t>The HTML index is a self-contained, browsable module version.</a:t>
            </a:r>
          </a:p>
          <a:p>
            <a:r>
              <a:rPr lang="en-US" dirty="0"/>
              <a:t>Open and review artifacts directly from the HTML index.</a:t>
            </a:r>
          </a:p>
          <a:p>
            <a:r>
              <a:rPr lang="en-US" dirty="0"/>
              <a:t>Works in any standard web browser without additional software.</a:t>
            </a:r>
          </a:p>
          <a:p>
            <a:r>
              <a:rPr lang="en-US" dirty="0"/>
              <a:t>The HTML index reflects all content generated to that point.</a:t>
            </a:r>
          </a:p>
          <a:p>
            <a:r>
              <a:rPr lang="en-US" dirty="0"/>
              <a:t>It complements the main Module Index as a review tool.</a:t>
            </a:r>
          </a:p>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HTML Index: A Self-Contained Browsable Module</a:t>
            </a:r>
          </a:p>
        </p:txBody>
      </p:sp>
      <p:sp>
        <p:nvSpPr>
          <p:cNvPr id="3" name="Content Placeholder 2"/>
          <p:cNvSpPr>
            <a:spLocks noGrp="1"/>
          </p:cNvSpPr>
          <p:nvPr>
            <p:ph idx="1"/>
          </p:nvPr>
        </p:nvSpPr>
        <p:spPr/>
        <p:txBody>
          <a:bodyPr/>
          <a:lstStyle/>
          <a:p>
            <a:r>
              <a:rPr lang="en-US" dirty="0"/>
              <a:t>The HTML index is a browsable landing page for the module.</a:t>
            </a:r>
          </a:p>
          <a:p>
            <a:r>
              <a:rPr lang="en-US" dirty="0"/>
              <a:t>All linked files live in one output folder alongside it.</a:t>
            </a:r>
          </a:p>
          <a:p>
            <a:r>
              <a:rPr lang="en-US" dirty="0"/>
              <a:t>Moving the whole folder preserves all links and functionality.</a:t>
            </a:r>
          </a:p>
          <a:p>
            <a:r>
              <a:rPr lang="en-US" dirty="0"/>
              <a:t>The HTML index works fully offline — no internet required.</a:t>
            </a:r>
          </a:p>
          <a:p>
            <a:r>
              <a:rPr lang="en-US" dirty="0"/>
              <a:t>It represents a complete snapshot of all module output.</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Portability and Sharing the HTML Index</a:t>
            </a:r>
          </a:p>
        </p:txBody>
      </p:sp>
      <p:sp>
        <p:nvSpPr>
          <p:cNvPr id="3" name="Content Placeholder 2"/>
          <p:cNvSpPr>
            <a:spLocks noGrp="1"/>
          </p:cNvSpPr>
          <p:nvPr>
            <p:ph idx="1"/>
          </p:nvPr>
        </p:nvSpPr>
        <p:spPr/>
        <p:txBody>
          <a:bodyPr/>
          <a:lstStyle/>
          <a:p>
            <a:r>
              <a:rPr lang="en-US" dirty="0"/>
              <a:t>Keep the output folder intact to preserve all functionality.</a:t>
            </a:r>
          </a:p>
          <a:p>
            <a:r>
              <a:rPr lang="en-US" dirty="0"/>
              <a:t>Copy or move the whole folder — never just the HTML file.</a:t>
            </a:r>
          </a:p>
          <a:p>
            <a:r>
              <a:rPr lang="en-US" dirty="0"/>
              <a:t>Share the folder with others as a ready-made module reference.</a:t>
            </a:r>
          </a:p>
          <a:p>
            <a:r>
              <a:rPr lang="en-US" dirty="0"/>
              <a:t>Recipients can browse the module in any standard web browser.</a:t>
            </a:r>
          </a:p>
          <a:p>
            <a:r>
              <a:rPr lang="en-US" dirty="0"/>
              <a:t>No special software or access permissions are needed to use it.</a:t>
            </a:r>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Navigating and Using the HTML Index Offline</a:t>
            </a:r>
          </a:p>
        </p:txBody>
      </p:sp>
      <p:sp>
        <p:nvSpPr>
          <p:cNvPr id="3" name="Content Placeholder 2"/>
          <p:cNvSpPr>
            <a:spLocks noGrp="1"/>
          </p:cNvSpPr>
          <p:nvPr>
            <p:ph idx="1"/>
          </p:nvPr>
        </p:nvSpPr>
        <p:spPr/>
        <p:txBody>
          <a:bodyPr/>
          <a:lstStyle/>
          <a:p>
            <a:r>
              <a:rPr lang="en-US" dirty="0"/>
              <a:t>Browse the HTML index using standard web browser controls.</a:t>
            </a:r>
          </a:p>
          <a:p>
            <a:r>
              <a:rPr lang="en-US" dirty="0"/>
              <a:t>All content elements are organised and linked within the page.</a:t>
            </a:r>
          </a:p>
          <a:p>
            <a:r>
              <a:rPr lang="en-US" dirty="0"/>
              <a:t>Navigate between artifacts using provided links and structure.</a:t>
            </a:r>
          </a:p>
          <a:p>
            <a:r>
              <a:rPr lang="en-US" dirty="0"/>
              <a:t>Access is fully independent of internet or network connectivity.</a:t>
            </a:r>
          </a:p>
          <a:p>
            <a:r>
              <a:rPr lang="en-US" dirty="0"/>
              <a:t>Ideal for field use, travel, or restricted-network environments.</a:t>
            </a:r>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HTML Index as a Complete Module Snapshot</a:t>
            </a:r>
          </a:p>
        </p:txBody>
      </p:sp>
      <p:sp>
        <p:nvSpPr>
          <p:cNvPr id="3" name="Content Placeholder 2"/>
          <p:cNvSpPr>
            <a:spLocks noGrp="1"/>
          </p:cNvSpPr>
          <p:nvPr>
            <p:ph idx="1"/>
          </p:nvPr>
        </p:nvSpPr>
        <p:spPr/>
        <p:txBody>
          <a:bodyPr/>
          <a:lstStyle/>
          <a:p>
            <a:r>
              <a:rPr lang="en-US" dirty="0"/>
              <a:t>The HTML index captures all content generated up to that moment.</a:t>
            </a:r>
          </a:p>
          <a:p>
            <a:r>
              <a:rPr lang="en-US" dirty="0"/>
              <a:t>It serves as a point-in-time record of the full module output.</a:t>
            </a:r>
          </a:p>
          <a:p>
            <a:r>
              <a:rPr lang="en-US" dirty="0"/>
              <a:t>Useful for archiving, auditing, or sharing module progress.</a:t>
            </a:r>
          </a:p>
          <a:p>
            <a:r>
              <a:rPr lang="en-US" dirty="0"/>
              <a:t>Regenerate the index to capture newly added artifacts.</a:t>
            </a:r>
          </a:p>
          <a:p>
            <a:r>
              <a:rPr lang="en-US" dirty="0"/>
              <a:t>Combines record-keeping and browsability in one portable file.</a:t>
            </a:r>
          </a:p>
          <a:p>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Working with the Module Index</a:t>
            </a:r>
          </a:p>
        </p:txBody>
      </p:sp>
      <p:sp>
        <p:nvSpPr>
          <p:cNvPr id="3" name="Content Placeholder 2"/>
          <p:cNvSpPr>
            <a:spLocks noGrp="1"/>
          </p:cNvSpPr>
          <p:nvPr>
            <p:ph idx="1"/>
          </p:nvPr>
        </p:nvSpPr>
        <p:spPr/>
        <p:txBody>
          <a:bodyPr/>
          <a:lstStyle/>
          <a:p>
            <a:r>
              <a:rPr lang="en-US" dirty="0"/>
              <a:t>The Module Index is the central catalogue for all module artifacts.</a:t>
            </a:r>
          </a:p>
          <a:p>
            <a:r>
              <a:rPr lang="en-US" dirty="0"/>
              <a:t>It serves dual roles: persistent record-keeping and content viewing.</a:t>
            </a:r>
          </a:p>
          <a:p>
            <a:r>
              <a:rPr lang="en-US" dirty="0"/>
              <a:t>Navigate, locate, and open files directly from the interface.</a:t>
            </a:r>
          </a:p>
          <a:p>
            <a:r>
              <a:rPr lang="en-US" dirty="0"/>
              <a:t>The HTML index offers a portable, offline-ready, shareable version.</a:t>
            </a:r>
          </a:p>
          <a:p>
            <a:r>
              <a:rPr lang="en-US" dirty="0"/>
              <a:t>Always keep the output folder intact to preserve HTML functionality.</a:t>
            </a:r>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ppt/theme/theme2.xml><?xml version="1.0" encoding="utf-8"?>
<a:theme xmlns:a="http://schemas.openxmlformats.org/drawingml/2006/main" name="Office Theme">
  <a:themeElements>
    <a:clrScheme name="Office">
      <a:dk1>
        <a:sysClr lastClr="000000" val="windowText"/>
      </a:dk1>
      <a:lt1>
        <a:sysClr lastClr="ffffff" val="window"/>
      </a:lt1>
      <a:dk2>
        <a:srgbClr val="44546A"/>
      </a:dk2>
      <a:lt2>
        <a:srgbClr val="E7E6E6"/>
      </a:lt2>
      <a:accent1>
        <a:srgbClr val="4472C4"/>
      </a:accent1>
      <a:accent2>
        <a:srgbClr val="ED7D31"/>
      </a:accent2>
      <a:accent3>
        <a:srgbClr val="A9D18E"/>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tint val="67000"/>
              </a:schemeClr>
            </a:gs>
            <a:gs pos="100000">
              <a:schemeClr val="phClr">
                <a:shade val="67000"/>
              </a:schemeClr>
            </a:gs>
          </a:gsLst>
          <a:lin ang="5400000" scaled="0"/>
        </a:gradFill>
        <a:gradFill rotWithShape="1">
          <a:gsLst>
            <a:gs pos="0">
              <a:schemeClr val="phClr">
                <a:tint val="50000"/>
              </a:schemeClr>
            </a:gs>
            <a:gs pos="100000">
              <a:schemeClr val="phClr">
                <a:shade val="50000"/>
              </a:schemeClr>
            </a:gs>
          </a:gsLst>
          <a:lin ang="5400000" scaled="0"/>
        </a:gradFill>
      </a:fillStyleLst>
      <a:lnStyleLst>
        <a:ln w="6350" cap="flat" cmpd="sng">
          <a:solidFill>
            <a:schemeClr val="phClr"/>
          </a:solidFill>
          <a:prstDash val="solid"/>
        </a:ln>
        <a:ln w="12700" cap="flat" cmpd="sng">
          <a:solidFill>
            <a:schemeClr val="phClr"/>
          </a:solidFill>
          <a:prstDash val="solid"/>
        </a:ln>
        <a:ln w="19050" cap="flat" cmpd="sng">
          <a:solidFill>
            <a:schemeClr val="phClr"/>
          </a:solidFill>
          <a:prstDash val="solid"/>
        </a:ln>
      </a:lnStyleLst>
      <a:effectStyleLst>
        <a:effectStyle>
          <a:effectLst/>
        </a:effectStyle>
        <a:effectStyle>
          <a:effectLst/>
        </a:effectStyle>
        <a:effectStyle>
          <a:effectLst>
            <a:outerShdw blurRad="40000" dist="23000" dir="5400000" rotWithShape="0">
              <a:srgbClr val="000000">
                <a:alpha val="35000"/>
              </a:srgbClr>
            </a:outerShdw>
          </a:effectLst>
        </a:effectStyle>
      </a:effectStyleLst>
      <a:bgFillStyleLst>
        <a:solidFill>
          <a:schemeClr val="phClr"/>
        </a:solidFill>
        <a:solidFill>
          <a:schemeClr val="phClr">
            <a:tint val="95000"/>
          </a:schemeClr>
        </a:solidFill>
        <a:gradFill rotWithShape="1">
          <a:gsLst>
            <a:gs pos="0">
              <a:schemeClr val="phClr">
                <a:tint val="93000"/>
              </a:schemeClr>
            </a:gs>
            <a:gs pos="100000">
              <a:schemeClr val="phClr">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PreseMaker</Application>
  <Slides>15</Slide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xsi="http://www.w3.org/2001/XMLSchema-instance">
  <dc:title>The Module Index: Cataloguing and Viewing Generated Content</dc:title>
  <dc:creator>PreseMaker</dc:creator>
  <cp:lastModifiedBy>PreseMaker</cp:lastModifiedBy>
  <dcterms:created xsi:type="dcterms:W3CDTF">2026-07-09T13:27:08Z</dcterms:created>
  <dcterms:modified xsi:type="dcterms:W3CDTF">2026-07-09T13:27:08Z</dcterms:modified>
</cp:coreProperties>
</file>